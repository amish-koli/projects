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6" r:id="rId13"/>
    <p:sldId id="284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9/6/2024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@apnacollegeofficial?si=BkypulemAO3Q5e25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927" y="3989238"/>
            <a:ext cx="7077456" cy="782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alifornian FB" panose="0207040306080B030204" pitchFamily="18" charset="0"/>
              </a:rPr>
              <a:t>UNDER THE GUIDENCE OF PROF. SAMRIN PRABEKAR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036659" y="1943882"/>
            <a:ext cx="7077456" cy="2045356"/>
          </a:xfrm>
        </p:spPr>
        <p:txBody>
          <a:bodyPr/>
          <a:lstStyle/>
          <a:p>
            <a:r>
              <a:rPr lang="en-US" sz="7200" dirty="0">
                <a:latin typeface="Bodoni MT Black" panose="02070A03080606020203" pitchFamily="18" charset="0"/>
              </a:rPr>
              <a:t>Onestop </a:t>
            </a:r>
            <a:endParaRPr lang="en-IN" sz="72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28" y="1265664"/>
            <a:ext cx="7781544" cy="859055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Bodoni MT Black" panose="02070A03080606020203" pitchFamily="18" charset="0"/>
              </a:rPr>
              <a:t>PARTICIPANTS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220207"/>
              </p:ext>
            </p:extLst>
          </p:nvPr>
        </p:nvGraphicFramePr>
        <p:xfrm>
          <a:off x="816516" y="2639907"/>
          <a:ext cx="8149065" cy="2021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355">
                  <a:extLst>
                    <a:ext uri="{9D8B030D-6E8A-4147-A177-3AD203B41FA5}">
                      <a16:colId xmlns:a16="http://schemas.microsoft.com/office/drawing/2014/main" val="1277972383"/>
                    </a:ext>
                  </a:extLst>
                </a:gridCol>
                <a:gridCol w="2716355">
                  <a:extLst>
                    <a:ext uri="{9D8B030D-6E8A-4147-A177-3AD203B41FA5}">
                      <a16:colId xmlns:a16="http://schemas.microsoft.com/office/drawing/2014/main" val="3438202383"/>
                    </a:ext>
                  </a:extLst>
                </a:gridCol>
                <a:gridCol w="2716355">
                  <a:extLst>
                    <a:ext uri="{9D8B030D-6E8A-4147-A177-3AD203B41FA5}">
                      <a16:colId xmlns:a16="http://schemas.microsoft.com/office/drawing/2014/main" val="2542971430"/>
                    </a:ext>
                  </a:extLst>
                </a:gridCol>
              </a:tblGrid>
              <a:tr h="588715">
                <a:tc>
                  <a:txBody>
                    <a:bodyPr/>
                    <a:lstStyle/>
                    <a:p>
                      <a:r>
                        <a:rPr lang="en-US" dirty="0"/>
                        <a:t>           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           ROLL</a:t>
                      </a:r>
                      <a:r>
                        <a:rPr lang="en-US" baseline="0" dirty="0"/>
                        <a:t>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DIVISION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969541"/>
                  </a:ext>
                </a:extLst>
              </a:tr>
              <a:tr h="4153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  <a:cs typeface="Arial" panose="020B0604020202020204" pitchFamily="34" charset="0"/>
                        </a:rPr>
                        <a:t>Adishree Korpe</a:t>
                      </a:r>
                      <a:endParaRPr lang="en-IN" dirty="0">
                        <a:latin typeface="Californian FB" panose="0207040306080B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</a:rPr>
                        <a:t>329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Californian FB" panose="0207040306080B030204" pitchFamily="18" charset="0"/>
                        </a:rPr>
                        <a:t>              S.E(AI&amp;DS)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712704"/>
                  </a:ext>
                </a:extLst>
              </a:tr>
              <a:tr h="49317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  <a:cs typeface="Arial" panose="020B0604020202020204" pitchFamily="34" charset="0"/>
                        </a:rPr>
                        <a:t>Amish Koli</a:t>
                      </a:r>
                      <a:endParaRPr lang="en-IN" dirty="0">
                        <a:latin typeface="Californian FB" panose="0207040306080B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</a:rPr>
                        <a:t>327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Californian FB" panose="0207040306080B030204" pitchFamily="18" charset="0"/>
                        </a:rPr>
                        <a:t>              S.E(AI&amp;DS)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1381"/>
                  </a:ext>
                </a:extLst>
              </a:tr>
              <a:tr h="5241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  <a:cs typeface="Arial" panose="020B0604020202020204" pitchFamily="34" charset="0"/>
                        </a:rPr>
                        <a:t>Anaika Mahanta</a:t>
                      </a:r>
                      <a:endParaRPr lang="en-IN" dirty="0">
                        <a:latin typeface="Californian FB" panose="0207040306080B03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fornian FB" panose="0207040306080B030204" pitchFamily="18" charset="0"/>
                        </a:rPr>
                        <a:t>331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Californian FB" panose="0207040306080B030204" pitchFamily="18" charset="0"/>
                        </a:rPr>
                        <a:t>              S.E(AI&amp;DS)</a:t>
                      </a:r>
                      <a:endParaRPr lang="en-IN" dirty="0">
                        <a:latin typeface="Californian FB" panose="0207040306080B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59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27" y="262053"/>
            <a:ext cx="7781544" cy="859055"/>
          </a:xfrm>
        </p:spPr>
        <p:txBody>
          <a:bodyPr>
            <a:normAutofit/>
          </a:bodyPr>
          <a:lstStyle/>
          <a:p>
            <a:r>
              <a:rPr lang="en-US" u="sng" dirty="0">
                <a:latin typeface="Bodoni MT Black" panose="02070A03080606020203" pitchFamily="18" charset="0"/>
              </a:rPr>
              <a:t>ABSTRACT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06" y="1221469"/>
            <a:ext cx="6803136" cy="4655224"/>
          </a:xfrm>
        </p:spPr>
        <p:txBody>
          <a:bodyPr>
            <a:noAutofit/>
          </a:bodyPr>
          <a:lstStyle/>
          <a:p>
            <a:endParaRPr lang="en-US" sz="2000" dirty="0">
              <a:solidFill>
                <a:schemeClr val="bg1"/>
              </a:solidFill>
              <a:latin typeface="Calisto MT" panose="02040603050505030304" pitchFamily="18" charset="0"/>
              <a:cs typeface="Mongolian Baiti" panose="03000500000000000000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  <a:cs typeface="Mongolian Baiti" panose="03000500000000000000" pitchFamily="66" charset="0"/>
              </a:rPr>
              <a:t>The front-end of the One Stop website is carefully crafted using HTML and CSS.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  <a:cs typeface="Mongolian Baiti" panose="03000500000000000000" pitchFamily="66" charset="0"/>
              </a:rPr>
              <a:t>For the back-end we will utilize </a:t>
            </a:r>
            <a:r>
              <a:rPr lang="en-US" sz="2000" dirty="0" err="1">
                <a:solidFill>
                  <a:schemeClr val="bg1"/>
                </a:solidFill>
                <a:latin typeface="Calisto MT" panose="02040603050505030304" pitchFamily="18" charset="0"/>
                <a:cs typeface="Mongolian Baiti" panose="03000500000000000000" pitchFamily="66" charset="0"/>
              </a:rPr>
              <a:t>javascript</a:t>
            </a:r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  <a:cs typeface="Mongolian Baiti" panose="03000500000000000000" pitchFamily="66" charset="0"/>
              </a:rPr>
              <a:t> , leveraging its robust framework and tools to build a and secure sever-side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These websites offer users a convenient, accessible, and personalized shopping experience, while enabling small businesses to reach a global audience. </a:t>
            </a:r>
            <a:endParaRPr lang="en-US" sz="2000" dirty="0">
              <a:solidFill>
                <a:schemeClr val="bg1"/>
              </a:solidFill>
              <a:latin typeface="Calisto MT" panose="02040603050505030304" pitchFamily="18" charset="0"/>
              <a:cs typeface="Mongolian Baiti" panose="03000500000000000000" pitchFamily="66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837" y="1539660"/>
            <a:ext cx="8420719" cy="5140540"/>
          </a:xfrm>
        </p:spPr>
        <p:txBody>
          <a:bodyPr/>
          <a:lstStyle/>
          <a:p>
            <a:r>
              <a:rPr lang="en-US" sz="2000" dirty="0">
                <a:latin typeface="Calisto MT" panose="02040603050505030304" pitchFamily="18" charset="0"/>
              </a:rPr>
              <a:t> In today’s competitive online shopping environment, users often face issues like confusing navigation, slow page load times, and lack of clear information. To address these challenges, we designed </a:t>
            </a:r>
            <a:r>
              <a:rPr lang="en-US" sz="2000" dirty="0" err="1">
                <a:latin typeface="Calisto MT" panose="02040603050505030304" pitchFamily="18" charset="0"/>
              </a:rPr>
              <a:t>OneStop</a:t>
            </a:r>
            <a:r>
              <a:rPr lang="en-US" sz="2000" dirty="0">
                <a:latin typeface="Calisto MT" panose="02040603050505030304" pitchFamily="18" charset="0"/>
              </a:rPr>
              <a:t> with a focus on creating a user-friendly and efficient shopping experience.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Constructed with an emphasis on user experience and scalability, this platform showcases how contemporary technologies can be used to develop a smooth online shopping experience.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This project demonstrates the incorporation of necessary e-commerce features like user sign-up, product browsing, cart management, secure payment, and order monitoring.</a:t>
            </a:r>
          </a:p>
          <a:p>
            <a:endParaRPr lang="en-US" sz="2000" dirty="0">
              <a:latin typeface="Calisto MT" panose="02040603050505030304" pitchFamily="18" charset="0"/>
            </a:endParaRPr>
          </a:p>
          <a:p>
            <a:endParaRPr lang="en-US" sz="2400" dirty="0">
              <a:latin typeface="Calisto MT" panose="02040603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840230"/>
          </a:xfrm>
        </p:spPr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INTRODUCTION</a:t>
            </a:r>
            <a:endParaRPr lang="en-IN" sz="5400" u="sng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632134"/>
            <a:ext cx="11214100" cy="840230"/>
          </a:xfrm>
        </p:spPr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LITREATURE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C01CD5-D52C-D715-5166-601B7C5B3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46159"/>
              </p:ext>
            </p:extLst>
          </p:nvPr>
        </p:nvGraphicFramePr>
        <p:xfrm>
          <a:off x="373743" y="1472364"/>
          <a:ext cx="10878457" cy="5143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553">
                  <a:extLst>
                    <a:ext uri="{9D8B030D-6E8A-4147-A177-3AD203B41FA5}">
                      <a16:colId xmlns:a16="http://schemas.microsoft.com/office/drawing/2014/main" val="366668747"/>
                    </a:ext>
                  </a:extLst>
                </a:gridCol>
                <a:gridCol w="2178707">
                  <a:extLst>
                    <a:ext uri="{9D8B030D-6E8A-4147-A177-3AD203B41FA5}">
                      <a16:colId xmlns:a16="http://schemas.microsoft.com/office/drawing/2014/main" val="236767789"/>
                    </a:ext>
                  </a:extLst>
                </a:gridCol>
                <a:gridCol w="2162745">
                  <a:extLst>
                    <a:ext uri="{9D8B030D-6E8A-4147-A177-3AD203B41FA5}">
                      <a16:colId xmlns:a16="http://schemas.microsoft.com/office/drawing/2014/main" val="2010294399"/>
                    </a:ext>
                  </a:extLst>
                </a:gridCol>
                <a:gridCol w="2170726">
                  <a:extLst>
                    <a:ext uri="{9D8B030D-6E8A-4147-A177-3AD203B41FA5}">
                      <a16:colId xmlns:a16="http://schemas.microsoft.com/office/drawing/2014/main" val="3206326514"/>
                    </a:ext>
                  </a:extLst>
                </a:gridCol>
                <a:gridCol w="2170726">
                  <a:extLst>
                    <a:ext uri="{9D8B030D-6E8A-4147-A177-3AD203B41FA5}">
                      <a16:colId xmlns:a16="http://schemas.microsoft.com/office/drawing/2014/main" val="1377582390"/>
                    </a:ext>
                  </a:extLst>
                </a:gridCol>
              </a:tblGrid>
              <a:tr h="480185">
                <a:tc>
                  <a:txBody>
                    <a:bodyPr/>
                    <a:lstStyle/>
                    <a:p>
                      <a:r>
                        <a:rPr lang="en-IN" dirty="0"/>
                        <a:t>         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61643"/>
                  </a:ext>
                </a:extLst>
              </a:tr>
              <a:tr h="2184021">
                <a:tc>
                  <a:txBody>
                    <a:bodyPr/>
                    <a:lstStyle/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A Review Paper on E-Commerce</a:t>
                      </a:r>
                      <a:endParaRPr lang="en-IN" sz="1800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2016</a:t>
                      </a:r>
                      <a:endParaRPr lang="en-IN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sz="18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fi-FI" sz="16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Shahid Amin Bhat, K. Kansana, J.M. Khan</a:t>
                      </a:r>
                      <a:endParaRPr lang="en-IN" sz="1600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study is conceptual in nature and raises opportunities for future research.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study draws on previous research to identify key variables that contribute to the success of e-commerce, including consistency of transaction steps, replacement guarantee, M-Commerce services, and more.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114223"/>
                  </a:ext>
                </a:extLst>
              </a:tr>
              <a:tr h="2271382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Research on E-commerce Platform of Online Shopping Consumers</a:t>
                      </a:r>
                      <a:endParaRPr lang="en-IN" sz="1800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2021</a:t>
                      </a:r>
                      <a:endParaRPr lang="en-IN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    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Yidan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 Wang</a:t>
                      </a:r>
                      <a:endParaRPr lang="en-IN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analysis of specific gender and age groups is more subjective.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research did not do more detailed research on specific products such as phone or beauty products to better understand what factors drive consumers to buy.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research used a questionnaire survey to collect data from 580 respondents.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respondents were randomly selected and included different types of users, including young, middle-aged, and older users, as well as male and female users.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206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u="sng">
                <a:latin typeface="Bodoni MT Black" panose="02070A03080606020203" pitchFamily="18" charset="0"/>
              </a:rPr>
              <a:t>EXISTING SYSTEM</a:t>
            </a:r>
            <a:endParaRPr lang="en-US" sz="5400" u="sng" dirty="0">
              <a:latin typeface="Bodoni MT Black" panose="02070A03080606020203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Here are some popular alternatives to ONESTOP for online shopping:</a:t>
            </a:r>
          </a:p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 eBay: A global e-commerce platform for buying and selling goods, including auctions and direct purchases</a:t>
            </a:r>
          </a:p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Walmart: Offers a wide range of products online, often with competitive prices and fast delivery options.</a:t>
            </a:r>
          </a:p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Alibaba: Ideal for wholesale purchases, Alibaba caters to businesses and individuals looking for bulk deals.</a:t>
            </a:r>
          </a:p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Flipkart: A leading e-commerce site in India, offering a variety of products similar to Amazon.</a:t>
            </a:r>
          </a:p>
          <a:p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 </a:t>
            </a:r>
            <a:r>
              <a:rPr lang="en-US" sz="2000" dirty="0" err="1">
                <a:latin typeface="Calisto MT" panose="02040603050505030304" pitchFamily="18" charset="0"/>
                <a:cs typeface="Mongolian Baiti" panose="03000500000000000000" pitchFamily="66" charset="0"/>
              </a:rPr>
              <a:t>Myntra</a:t>
            </a:r>
            <a:r>
              <a:rPr lang="en-US" sz="2000" dirty="0">
                <a:latin typeface="Calisto MT" panose="02040603050505030304" pitchFamily="18" charset="0"/>
                <a:cs typeface="Mongolian Baiti" panose="03000500000000000000" pitchFamily="66" charset="0"/>
              </a:rPr>
              <a:t>: Known for quality products and deals, with online shopping</a:t>
            </a:r>
            <a:r>
              <a:rPr lang="en-US" dirty="0">
                <a:latin typeface="Calisto MT" panose="020406030505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588127"/>
          </a:xfrm>
        </p:spPr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PROBLEM STATEMENT AND 0BJECTIVES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56478" y="1999571"/>
            <a:ext cx="8909824" cy="4523891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Calisto MT" panose="02040603050505030304" pitchFamily="18" charset="0"/>
              </a:rPr>
              <a:t>The rapid growth of e-commerce has heightened customer expectations for seamless, fast, and personalized online shopping experiences. However, many businesses and developers face challenges in building a platform that replicates the features of leading e-commerce giants like Amazon. These challenges include implementing efficient product search functionalities, secure payment gateways, personalized recommendations, and scalable cloud infrastructure. This project aims to develop an Amazon-like website that addresses these issues by providing a user-friendly interface, reliable transaction processes, and scalable solutions for a variety of products and services </a:t>
            </a:r>
            <a:r>
              <a:rPr lang="en-US" sz="1800" dirty="0"/>
              <a:t>. </a:t>
            </a:r>
            <a:r>
              <a:rPr lang="en-US" sz="1800" dirty="0">
                <a:latin typeface="Calisto MT" panose="02040603050505030304" pitchFamily="18" charset="0"/>
              </a:rPr>
              <a:t>We are creating a platform to promote homegrown products and small businesses, providing them with the visibility and support they deserve but often lack. Our goal is to empower local entrepreneurs and foster a community that values quality and sustainability . The objective of the e-commerce website is to drive online sales by providing a seamless and user-friendly shopping experience. This includes intuitive navigation, personalized recommendations, and easy checkout options to enhance customer satisfaction. </a:t>
            </a:r>
            <a:endParaRPr lang="en-IN" sz="18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5548" y="1285019"/>
            <a:ext cx="9402006" cy="1463040"/>
          </a:xfrm>
        </p:spPr>
        <p:txBody>
          <a:bodyPr/>
          <a:lstStyle/>
          <a:p>
            <a:endParaRPr lang="en-US" dirty="0"/>
          </a:p>
          <a:p>
            <a:r>
              <a:rPr lang="en-US" sz="2000" dirty="0">
                <a:latin typeface="Calisto MT" panose="02040603050505030304" pitchFamily="18" charset="0"/>
              </a:rPr>
              <a:t>The proposed E-commerce website aims to provide a seamless and user-friendly shopping experience by utilizing a clean and responsive design built with HTML and CSS. The system will be designed to offer a comprehensive product catalog, easy navigation, and secure transaction processing to enhance user engagement and satisfaction.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sto MT" panose="02040603050505030304" pitchFamily="18" charset="0"/>
              </a:rPr>
              <a:t>UI Design: Clean, responsive, and easy-to-navigate layout showcasing products, promotions, and categories.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sto MT" panose="02040603050505030304" pitchFamily="18" charset="0"/>
              </a:rPr>
              <a:t> Product Pages: High-quality images, detailed descriptions, pricing, and customer reviews for each product.</a:t>
            </a:r>
          </a:p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sto MT" panose="02040603050505030304" pitchFamily="18" charset="0"/>
              </a:rPr>
              <a:t>3.</a:t>
            </a:r>
            <a:r>
              <a:rPr lang="en-US" sz="2000" dirty="0">
                <a:latin typeface="Calisto MT" panose="02040603050505030304" pitchFamily="18" charset="0"/>
              </a:rPr>
              <a:t> User Accounts: Login, sign-up, and guest checkout options for flexible shopping.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840230"/>
          </a:xfrm>
        </p:spPr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PROPSED SYSTEM</a:t>
            </a:r>
            <a:endParaRPr lang="en-IN" sz="5400" u="sng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SYSTEM ARCHITECTURE</a:t>
            </a:r>
            <a:endParaRPr lang="en-IN" sz="5400" u="sng" dirty="0">
              <a:latin typeface="Bodoni MT Black" panose="02070A030806060202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" r="537"/>
          <a:stretch>
            <a:fillRect/>
          </a:stretch>
        </p:blipFill>
        <p:spPr>
          <a:xfrm>
            <a:off x="2092325" y="1736725"/>
            <a:ext cx="7548563" cy="4578350"/>
          </a:xfrm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IMPLEMENTATION DETAILS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44500" y="1513761"/>
            <a:ext cx="668112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Design: Create wireframes and mock 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Features: Hero section, product categories, featured products, search bar, navigation menu, and footer Technologies: HTML: Structure content</a:t>
            </a:r>
          </a:p>
          <a:p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      CSS: Style the page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 JavaScript: Add interactive elements (e.g., sliders). Content: Use high-quality images and clear, engaging text.   Include call-to-action buttons.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Responsive Design: Ensure the page works on all devices with media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Interactive Elements: Implement  hover effects.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Calisto MT" panose="02040603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840230"/>
          </a:xfrm>
        </p:spPr>
        <p:txBody>
          <a:bodyPr/>
          <a:lstStyle/>
          <a:p>
            <a:r>
              <a:rPr lang="en-US" sz="5400" u="sng" dirty="0">
                <a:latin typeface="Bodoni MT Black" panose="02070A03080606020203" pitchFamily="18" charset="0"/>
              </a:rPr>
              <a:t>REFERENCES</a:t>
            </a:r>
            <a:endParaRPr lang="en-IN" sz="5400" u="sng" dirty="0">
              <a:latin typeface="Bodoni MT Black" panose="02070A030806060202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4499" y="1715192"/>
            <a:ext cx="8495394" cy="4718265"/>
          </a:xfrm>
        </p:spPr>
        <p:txBody>
          <a:bodyPr/>
          <a:lstStyle/>
          <a:p>
            <a:r>
              <a:rPr lang="en-IN" dirty="0"/>
              <a:t>You Tube channel: Apna college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https://youtube.com/@apnacollegeofficial?si=BkypulemAO3Q5e25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dirty="0"/>
              <a:t>Research gate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https://www.researchgate.net</a:t>
            </a:r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420" y="2918721"/>
            <a:ext cx="5847318" cy="1243584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golian Baiti" panose="03000500000000000000" pitchFamily="66" charset="0"/>
                <a:cs typeface="Mongolian Baiti" panose="03000500000000000000" pitchFamily="66" charset="0"/>
              </a:rPr>
              <a:t>THANK YOU!</a:t>
            </a:r>
            <a:endParaRPr lang="en-GB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911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Bodoni MT Black</vt:lpstr>
      <vt:lpstr>Calibri</vt:lpstr>
      <vt:lpstr>Californian FB</vt:lpstr>
      <vt:lpstr>Calisto MT</vt:lpstr>
      <vt:lpstr>Mongolian Baiti</vt:lpstr>
      <vt:lpstr>Trade Gothic LT Pro</vt:lpstr>
      <vt:lpstr>Trebuchet MS</vt:lpstr>
      <vt:lpstr>Office Theme</vt:lpstr>
      <vt:lpstr>Onestop </vt:lpstr>
      <vt:lpstr>PARTICIPANTS</vt:lpstr>
      <vt:lpstr>ABSTRACT</vt:lpstr>
      <vt:lpstr>INTRODUCTION</vt:lpstr>
      <vt:lpstr>LITREATURE SURVEY</vt:lpstr>
      <vt:lpstr>EXISTING SYSTEM</vt:lpstr>
      <vt:lpstr>PROBLEM STATEMENT AND 0BJECTIVES </vt:lpstr>
      <vt:lpstr>PROPSED SYSTEM</vt:lpstr>
      <vt:lpstr>SYSTEM ARCHITECTURE</vt:lpstr>
      <vt:lpstr>IMPLEMENTATION DETAILS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2024-09-05T16:41:40Z</dcterms:created>
  <dcterms:modified xsi:type="dcterms:W3CDTF">2024-09-06T07:23:59Z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