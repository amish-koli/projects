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5"/>
  </p:notesMasterIdLst>
  <p:sldIdLst>
    <p:sldId id="270" r:id="rId2"/>
    <p:sldId id="293" r:id="rId3"/>
    <p:sldId id="269" r:id="rId4"/>
    <p:sldId id="257" r:id="rId5"/>
    <p:sldId id="258" r:id="rId6"/>
    <p:sldId id="260" r:id="rId7"/>
    <p:sldId id="262" r:id="rId8"/>
    <p:sldId id="294" r:id="rId9"/>
    <p:sldId id="263" r:id="rId10"/>
    <p:sldId id="295" r:id="rId11"/>
    <p:sldId id="287" r:id="rId12"/>
    <p:sldId id="265"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0FE3AD0-2034-43A7-B30A-D85BC1FA65FF}">
          <p14:sldIdLst>
            <p14:sldId id="270"/>
            <p14:sldId id="293"/>
            <p14:sldId id="269"/>
            <p14:sldId id="257"/>
            <p14:sldId id="258"/>
            <p14:sldId id="260"/>
            <p14:sldId id="262"/>
            <p14:sldId id="294"/>
            <p14:sldId id="263"/>
            <p14:sldId id="295"/>
            <p14:sldId id="287"/>
            <p14:sldId id="265"/>
          </p14:sldIdLst>
        </p14:section>
        <p14:section name="Untitled Section" id="{C4073F9C-5BC3-4641-926C-18BE2EF8AEB2}">
          <p14:sldIdLst>
            <p14:sldId id="268"/>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ishtha" initials="n"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173" autoAdjust="0"/>
    <p:restoredTop sz="94660"/>
  </p:normalViewPr>
  <p:slideViewPr>
    <p:cSldViewPr snapToGrid="0">
      <p:cViewPr varScale="1">
        <p:scale>
          <a:sx n="106" d="100"/>
          <a:sy n="106" d="100"/>
        </p:scale>
        <p:origin x="95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4/21/2025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48A87A34-81AB-432B-8DAE-1953F412C126}" type="datetimeFigureOut">
              <a:rPr lang="en-US" smtClean="0"/>
              <a:t>4/21/2025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A87A34-81AB-432B-8DAE-1953F412C126}" type="datetimeFigureOut">
              <a:rPr lang="en-US" smtClean="0"/>
              <a:t>4/21/2025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4/21/2025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76672"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05728" y="1600200"/>
            <a:ext cx="5376672"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8A87A34-81AB-432B-8DAE-1953F412C126}" type="datetimeFigureOut">
              <a:rPr lang="en-US" smtClean="0"/>
              <a:t>4/21/2025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8A87A34-81AB-432B-8DAE-1953F412C126}" type="datetimeFigureOut">
              <a:rPr lang="en-US" smtClean="0"/>
              <a:t>4/21/2025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8A87A34-81AB-432B-8DAE-1953F412C126}" type="datetimeFigureOut">
              <a:rPr lang="en-US" smtClean="0"/>
              <a:t>4/21/2025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4/21/2025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4/21/2025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4/21/2025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A87A34-81AB-432B-8DAE-1953F412C126}" type="datetimeFigureOut">
              <a:rPr lang="en-US" smtClean="0"/>
              <a:t>4/21/2025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8"/>
            <a:ext cx="8070573"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A87A34-81AB-432B-8DAE-1953F412C126}" type="datetimeFigureOut">
              <a:rPr lang="en-US" smtClean="0"/>
              <a:t>4/21/2025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DE934FF-F4E1-47C5-9CA5-30A81DDE2BE4}" type="datetimeFigureOut">
              <a:rPr lang="en-US" smtClean="0"/>
              <a:t>4/21/2025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a:xfrm>
          <a:off x="0" y="0"/>
          <a:ext cx="0" cy="0"/>
          <a:chOff x="0" y="0"/>
          <a:chExt cx="0" cy="0"/>
        </a:xfrm>
      </p:grpSpPr>
      <p:sp>
        <p:nvSpPr>
          <p:cNvPr id="1026" name="Title 1025"/>
          <p:cNvSpPr>
            <a:spLocks noGrp="1"/>
          </p:cNvSpPr>
          <p:nvPr>
            <p:ph type="title"/>
          </p:nvPr>
        </p:nvSpPr>
        <p:spPr>
          <a:xfrm>
            <a:off x="609600" y="274638"/>
            <a:ext cx="10972800" cy="1143000"/>
          </a:xfrm>
          <a:prstGeom prst="rect">
            <a:avLst/>
          </a:prstGeom>
          <a:noFill/>
          <a:ln w="9525">
            <a:noFill/>
          </a:ln>
        </p:spPr>
        <p:txBody>
          <a:bodyPr anchor="ctr" anchorCtr="0"/>
          <a:lstStyle/>
          <a:p>
            <a:pPr lvl="0"/>
            <a:r>
              <a:t>Click to edit Master title style</a:t>
            </a:r>
          </a:p>
        </p:txBody>
      </p:sp>
      <p:sp>
        <p:nvSpPr>
          <p:cNvPr id="1027" name="Text Placeholder 1026"/>
          <p:cNvSpPr>
            <a:spLocks noGrp="1"/>
          </p:cNvSpPr>
          <p:nvPr>
            <p:ph type="body" idx="1"/>
          </p:nvPr>
        </p:nvSpPr>
        <p:spPr>
          <a:xfrm>
            <a:off x="609600" y="1600200"/>
            <a:ext cx="10972800" cy="4525963"/>
          </a:xfrm>
          <a:prstGeom prst="rect">
            <a:avLst/>
          </a:prstGeom>
          <a:noFill/>
          <a:ln w="9525">
            <a:noFill/>
          </a:ln>
        </p:spPr>
        <p:txBody>
          <a:bodyPr/>
          <a:lstStyle/>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a:spLocks noGrp="1"/>
          </p:cNvSpPr>
          <p:nvPr>
            <p:ph type="dt" sz="half" idx="2"/>
          </p:nvPr>
        </p:nvSpPr>
        <p:spPr>
          <a:xfrm>
            <a:off x="609600" y="6245225"/>
            <a:ext cx="2844800" cy="476250"/>
          </a:xfrm>
          <a:prstGeom prst="rect">
            <a:avLst/>
          </a:prstGeom>
          <a:noFill/>
          <a:ln w="9525">
            <a:noFill/>
          </a:ln>
        </p:spPr>
        <p:txBody>
          <a:bodyPr/>
          <a:lstStyle>
            <a:lvl1pPr>
              <a:defRPr sz="1400"/>
            </a:lvl1pPr>
          </a:lstStyle>
          <a:p>
            <a:fld id="{48A87A34-81AB-432B-8DAE-1953F412C126}" type="datetimeFigureOut">
              <a:rPr lang="en-US" smtClean="0"/>
              <a:t>4/21/2025</a:t>
            </a:fld>
            <a:endParaRPr lang="en-US" dirty="0"/>
          </a:p>
        </p:txBody>
      </p:sp>
      <p:sp>
        <p:nvSpPr>
          <p:cNvPr id="1029" name="Footer Placeholder 1028"/>
          <p:cNvSpPr>
            <a:spLocks noGrp="1"/>
          </p:cNvSpPr>
          <p:nvPr>
            <p:ph type="ftr" sz="quarter" idx="3"/>
          </p:nvPr>
        </p:nvSpPr>
        <p:spPr>
          <a:xfrm>
            <a:off x="4165600" y="6245225"/>
            <a:ext cx="3860800" cy="476250"/>
          </a:xfrm>
          <a:prstGeom prst="rect">
            <a:avLst/>
          </a:prstGeom>
          <a:noFill/>
          <a:ln w="9525">
            <a:noFill/>
          </a:ln>
        </p:spPr>
        <p:txBody>
          <a:bodyPr/>
          <a:lstStyle>
            <a:lvl1pPr algn="ctr">
              <a:defRPr sz="1400"/>
            </a:lvl1pPr>
          </a:lstStyle>
          <a:p>
            <a:endParaRPr lang="en-US" dirty="0"/>
          </a:p>
        </p:txBody>
      </p:sp>
      <p:sp>
        <p:nvSpPr>
          <p:cNvPr id="1030" name="Slide Number Placeholder 1029"/>
          <p:cNvSpPr>
            <a:spLocks noGrp="1"/>
          </p:cNvSpPr>
          <p:nvPr>
            <p:ph type="sldNum" sz="quarter" idx="4"/>
          </p:nvPr>
        </p:nvSpPr>
        <p:spPr>
          <a:xfrm>
            <a:off x="8737600" y="6245225"/>
            <a:ext cx="2844800" cy="476250"/>
          </a:xfrm>
          <a:prstGeom prst="rect">
            <a:avLst/>
          </a:prstGeom>
          <a:noFill/>
          <a:ln w="9525">
            <a:noFill/>
          </a:ln>
        </p:spPr>
        <p:txBody>
          <a:bodyPr/>
          <a:lstStyle>
            <a:lvl1pPr algn="r">
              <a:defRPr sz="1400"/>
            </a:lvl1pPr>
          </a:lstStyle>
          <a:p>
            <a:fld id="{6D22F896-40B5-4ADD-8801-0D06FADFA095}"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2.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hyperlink" Target="https://www.mdpi.com/2571-5577/6/2/53" TargetMode="External"/><Relationship Id="rId2" Type="http://schemas.openxmlformats.org/officeDocument/2006/relationships/hyperlink" Target="https://www.researchgate.net/publication/344394651_User_engagement_and_the_role_of_mHealth_in_self-management_of_diabetes_Real-world_evidence_from_the_Cornerstones4CareR_app" TargetMode="Externa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76855" y="768350"/>
            <a:ext cx="6752590" cy="2275840"/>
          </a:xfrm>
          <a:prstGeom prst="rect">
            <a:avLst/>
          </a:prstGeom>
          <a:noFill/>
        </p:spPr>
        <p:txBody>
          <a:bodyPr wrap="square">
            <a:noAutofit/>
          </a:bodyPr>
          <a:lstStyle/>
          <a:p>
            <a:pPr algn="ctr" fontAlgn="base">
              <a:spcBef>
                <a:spcPct val="0"/>
              </a:spcBef>
              <a:spcAft>
                <a:spcPct val="0"/>
              </a:spcAft>
              <a:defRPr/>
            </a:pPr>
            <a:endParaRPr lang="en-US" sz="2000" dirty="0">
              <a:latin typeface="Times New Roman" panose="02020603050405020304" pitchFamily="18" charset="0"/>
              <a:cs typeface="Times New Roman" panose="02020603050405020304" pitchFamily="18" charset="0"/>
            </a:endParaRPr>
          </a:p>
          <a:p>
            <a:pPr algn="ctr" fontAlgn="base">
              <a:spcBef>
                <a:spcPct val="0"/>
              </a:spcBef>
              <a:spcAft>
                <a:spcPct val="0"/>
              </a:spcAft>
              <a:defRPr/>
            </a:pPr>
            <a:endParaRPr lang="en-US" sz="2000" dirty="0">
              <a:latin typeface="Times New Roman" panose="02020603050405020304" pitchFamily="18" charset="0"/>
              <a:cs typeface="Times New Roman" panose="02020603050405020304" pitchFamily="18" charset="0"/>
            </a:endParaRPr>
          </a:p>
          <a:p>
            <a:pPr algn="ctr" fontAlgn="base">
              <a:spcBef>
                <a:spcPct val="0"/>
              </a:spcBef>
              <a:spcAft>
                <a:spcPct val="0"/>
              </a:spcAft>
              <a:defRPr/>
            </a:pPr>
            <a:endParaRPr lang="en-US" sz="2000" dirty="0">
              <a:latin typeface="Times New Roman" panose="02020603050405020304" pitchFamily="18" charset="0"/>
              <a:cs typeface="Times New Roman" panose="02020603050405020304" pitchFamily="18" charset="0"/>
            </a:endParaRPr>
          </a:p>
          <a:p>
            <a:pPr algn="ctr" fontAlgn="base">
              <a:spcBef>
                <a:spcPct val="0"/>
              </a:spcBef>
              <a:spcAft>
                <a:spcPct val="0"/>
              </a:spcAft>
              <a:defRPr/>
            </a:pPr>
            <a:r>
              <a:rPr lang="en-US" sz="2000" dirty="0">
                <a:latin typeface="Times New Roman" panose="02020603050405020304" pitchFamily="18" charset="0"/>
                <a:cs typeface="Times New Roman" panose="02020603050405020304" pitchFamily="18" charset="0"/>
              </a:rPr>
              <a:t>A </a:t>
            </a:r>
          </a:p>
          <a:p>
            <a:pPr algn="ctr" fontAlgn="base">
              <a:spcBef>
                <a:spcPct val="0"/>
              </a:spcBef>
              <a:spcAft>
                <a:spcPct val="0"/>
              </a:spcAft>
              <a:defRPr/>
            </a:pPr>
            <a:r>
              <a:rPr lang="en-US" sz="2000" dirty="0">
                <a:latin typeface="Times New Roman" panose="02020603050405020304" pitchFamily="18" charset="0"/>
                <a:cs typeface="Times New Roman" panose="02020603050405020304" pitchFamily="18" charset="0"/>
              </a:rPr>
              <a:t>Title Approval Project Presentation </a:t>
            </a:r>
          </a:p>
          <a:p>
            <a:pPr algn="ctr" fontAlgn="base">
              <a:spcBef>
                <a:spcPct val="0"/>
              </a:spcBef>
              <a:spcAft>
                <a:spcPct val="0"/>
              </a:spcAft>
              <a:defRPr/>
            </a:pPr>
            <a:r>
              <a:rPr lang="en-US" sz="2000" dirty="0">
                <a:latin typeface="Times New Roman" panose="02020603050405020304" pitchFamily="18" charset="0"/>
                <a:cs typeface="Times New Roman" panose="02020603050405020304" pitchFamily="18" charset="0"/>
              </a:rPr>
              <a:t>on</a:t>
            </a:r>
          </a:p>
        </p:txBody>
      </p:sp>
      <p:sp>
        <p:nvSpPr>
          <p:cNvPr id="5" name="TextBox 11"/>
          <p:cNvSpPr txBox="1">
            <a:spLocks noChangeArrowheads="1"/>
          </p:cNvSpPr>
          <p:nvPr/>
        </p:nvSpPr>
        <p:spPr bwMode="auto">
          <a:xfrm>
            <a:off x="1560708" y="2521834"/>
            <a:ext cx="91440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pPr>
            <a:r>
              <a:rPr lang="en-US" sz="2800" b="1" dirty="0">
                <a:solidFill>
                  <a:srgbClr val="000000"/>
                </a:solidFill>
                <a:latin typeface="Times New Roman" panose="02020603050405020304" pitchFamily="18" charset="0"/>
                <a:cs typeface="Times New Roman" panose="02020603050405020304" pitchFamily="18" charset="0"/>
              </a:rPr>
              <a:t>“</a:t>
            </a:r>
            <a:r>
              <a:rPr lang="en-US" sz="2000" b="1" dirty="0">
                <a:solidFill>
                  <a:srgbClr val="000000"/>
                </a:solidFill>
                <a:latin typeface="Times New Roman" panose="02020603050405020304" pitchFamily="18" charset="0"/>
                <a:cs typeface="Times New Roman" panose="02020603050405020304" pitchFamily="18" charset="0"/>
              </a:rPr>
              <a:t>Healthcare Website(Counting </a:t>
            </a:r>
            <a:r>
              <a:rPr lang="en-US" sz="2000" b="1" dirty="0">
                <a:solidFill>
                  <a:srgbClr val="000000"/>
                </a:solidFill>
                <a:latin typeface="Times New Roman" panose="02020603050405020304" pitchFamily="18" charset="0"/>
                <a:cs typeface="Times New Roman" panose="02020603050405020304" pitchFamily="18" charset="0"/>
                <a:sym typeface="+mn-ea"/>
              </a:rPr>
              <a:t>Calories</a:t>
            </a:r>
            <a:r>
              <a:rPr lang="en-US" sz="2000" b="1" dirty="0">
                <a:solidFill>
                  <a:srgbClr val="000000"/>
                </a:solidFill>
                <a:latin typeface="Times New Roman" panose="02020603050405020304" pitchFamily="18" charset="0"/>
                <a:cs typeface="Times New Roman" panose="02020603050405020304" pitchFamily="18" charset="0"/>
              </a:rPr>
              <a:t>)</a:t>
            </a:r>
            <a:r>
              <a:rPr lang="en-US" sz="2800" b="1" dirty="0">
                <a:solidFill>
                  <a:srgbClr val="000000"/>
                </a:solidFill>
                <a:latin typeface="Times New Roman" panose="02020603050405020304" pitchFamily="18" charset="0"/>
                <a:cs typeface="Times New Roman" panose="02020603050405020304" pitchFamily="18" charset="0"/>
              </a:rPr>
              <a:t>” </a:t>
            </a:r>
          </a:p>
        </p:txBody>
      </p:sp>
      <p:sp>
        <p:nvSpPr>
          <p:cNvPr id="6" name="TextBox 5"/>
          <p:cNvSpPr txBox="1"/>
          <p:nvPr/>
        </p:nvSpPr>
        <p:spPr>
          <a:xfrm>
            <a:off x="1626417" y="1058140"/>
            <a:ext cx="9053465" cy="276999"/>
          </a:xfrm>
          <a:prstGeom prst="rect">
            <a:avLst/>
          </a:prstGeom>
          <a:noFill/>
        </p:spPr>
        <p:txBody>
          <a:bodyPr>
            <a:spAutoFit/>
          </a:bodyPr>
          <a:lstStyle/>
          <a:p>
            <a:pPr algn="ctr" fontAlgn="base">
              <a:spcBef>
                <a:spcPct val="0"/>
              </a:spcBef>
              <a:spcAft>
                <a:spcPct val="0"/>
              </a:spcAft>
              <a:defRPr/>
            </a:pPr>
            <a:r>
              <a:rPr lang="en-US" sz="1200" dirty="0">
                <a:latin typeface="Times New Roman" panose="02020603050405020304" pitchFamily="18" charset="0"/>
                <a:cs typeface="Times New Roman" panose="02020603050405020304" pitchFamily="18" charset="0"/>
              </a:rPr>
              <a:t>Department of Artificial Intelligence And Data Science Engineering</a:t>
            </a:r>
            <a:endParaRPr lang="en-US" sz="1200" dirty="0">
              <a:solidFill>
                <a:srgbClr val="000000">
                  <a:lumMod val="75000"/>
                  <a:lumOff val="25000"/>
                </a:srgbClr>
              </a:solidFill>
              <a:latin typeface="Times New Roman" panose="02020603050405020304" pitchFamily="18" charset="0"/>
              <a:cs typeface="Times New Roman" panose="02020603050405020304" pitchFamily="18" charset="0"/>
            </a:endParaRPr>
          </a:p>
        </p:txBody>
      </p:sp>
      <p:sp>
        <p:nvSpPr>
          <p:cNvPr id="7" name="TextBox 13"/>
          <p:cNvSpPr txBox="1">
            <a:spLocks noChangeArrowheads="1"/>
          </p:cNvSpPr>
          <p:nvPr/>
        </p:nvSpPr>
        <p:spPr bwMode="auto">
          <a:xfrm>
            <a:off x="476567" y="3406237"/>
            <a:ext cx="14764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dirty="0">
                <a:solidFill>
                  <a:srgbClr val="000000"/>
                </a:solidFill>
                <a:latin typeface="Times New Roman" panose="02020603050405020304" pitchFamily="18" charset="0"/>
                <a:cs typeface="Times New Roman" panose="02020603050405020304" pitchFamily="18" charset="0"/>
              </a:rPr>
              <a:t>Presented By:</a:t>
            </a:r>
          </a:p>
        </p:txBody>
      </p:sp>
      <p:sp>
        <p:nvSpPr>
          <p:cNvPr id="8" name="TextBox 14"/>
          <p:cNvSpPr txBox="1">
            <a:spLocks noChangeArrowheads="1"/>
          </p:cNvSpPr>
          <p:nvPr/>
        </p:nvSpPr>
        <p:spPr bwMode="auto">
          <a:xfrm>
            <a:off x="8599468" y="3406237"/>
            <a:ext cx="28194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pPr>
            <a:r>
              <a:rPr lang="en-US" dirty="0">
                <a:solidFill>
                  <a:srgbClr val="000000"/>
                </a:solidFill>
                <a:latin typeface="Times New Roman" panose="02020603050405020304" pitchFamily="18" charset="0"/>
                <a:cs typeface="Times New Roman" panose="02020603050405020304" pitchFamily="18" charset="0"/>
              </a:rPr>
              <a:t>Project Guide</a:t>
            </a:r>
          </a:p>
          <a:p>
            <a:pPr algn="ctr" eaLnBrk="1" fontAlgn="base" hangingPunct="1">
              <a:spcBef>
                <a:spcPct val="0"/>
              </a:spcBef>
              <a:spcAft>
                <a:spcPct val="0"/>
              </a:spcAft>
            </a:pPr>
            <a:r>
              <a:rPr lang="en-US" b="1" dirty="0">
                <a:solidFill>
                  <a:srgbClr val="000000"/>
                </a:solidFill>
                <a:latin typeface="Times New Roman" panose="02020603050405020304" pitchFamily="18" charset="0"/>
                <a:cs typeface="Times New Roman" panose="02020603050405020304" pitchFamily="18" charset="0"/>
              </a:rPr>
              <a:t>Prof. Swati Bhat</a:t>
            </a:r>
          </a:p>
        </p:txBody>
      </p:sp>
      <p:sp>
        <p:nvSpPr>
          <p:cNvPr id="9" name="Date Placeholder 6"/>
          <p:cNvSpPr>
            <a:spLocks noGrp="1"/>
          </p:cNvSpPr>
          <p:nvPr>
            <p:ph type="dt" sz="half" idx="10"/>
          </p:nvPr>
        </p:nvSpPr>
        <p:spPr>
          <a:xfrm>
            <a:off x="10579100" y="0"/>
            <a:ext cx="1612900" cy="341630"/>
          </a:xfrm>
        </p:spPr>
        <p:txBody>
          <a:bodyPr/>
          <a:lstStyle/>
          <a:p>
            <a:pPr>
              <a:defRPr/>
            </a:pPr>
            <a:r>
              <a:rPr lang="en-US" dirty="0">
                <a:solidFill>
                  <a:srgbClr val="000000">
                    <a:lumMod val="75000"/>
                    <a:lumOff val="25000"/>
                  </a:srgbClr>
                </a:solidFill>
                <a:latin typeface="Times New Roman" panose="02020603050405020304" pitchFamily="18" charset="0"/>
                <a:cs typeface="Times New Roman" panose="02020603050405020304" pitchFamily="18" charset="0"/>
              </a:rPr>
              <a:t>Date  : 04-02-2025</a:t>
            </a:r>
          </a:p>
        </p:txBody>
      </p:sp>
      <p:pic>
        <p:nvPicPr>
          <p:cNvPr id="10" name="Picture 9" descr="C:\Documents and Settings\any\Desktop\MCT Logo\RGIT Logo 01 A.jpg"/>
          <p:cNvPicPr/>
          <p:nvPr/>
        </p:nvPicPr>
        <p:blipFill>
          <a:blip r:embed="rId2" cstate="print"/>
          <a:srcRect/>
          <a:stretch>
            <a:fillRect/>
          </a:stretch>
        </p:blipFill>
        <p:spPr bwMode="auto">
          <a:xfrm>
            <a:off x="3130570" y="170815"/>
            <a:ext cx="6045160" cy="881680"/>
          </a:xfrm>
          <a:prstGeom prst="rect">
            <a:avLst/>
          </a:prstGeom>
          <a:noFill/>
          <a:ln w="9525">
            <a:noFill/>
            <a:miter lim="800000"/>
            <a:headEnd/>
            <a:tailEnd/>
          </a:ln>
        </p:spPr>
      </p:pic>
      <p:graphicFrame>
        <p:nvGraphicFramePr>
          <p:cNvPr id="12" name="Table 11">
            <a:extLst>
              <a:ext uri="{FF2B5EF4-FFF2-40B4-BE49-F238E27FC236}">
                <a16:creationId xmlns:a16="http://schemas.microsoft.com/office/drawing/2014/main" id="{918CBA1D-C11A-E736-BDA7-C6B7FA35F850}"/>
              </a:ext>
            </a:extLst>
          </p:cNvPr>
          <p:cNvGraphicFramePr>
            <a:graphicFrameLocks noGrp="1"/>
          </p:cNvGraphicFramePr>
          <p:nvPr>
            <p:extLst>
              <p:ext uri="{D42A27DB-BD31-4B8C-83A1-F6EECF244321}">
                <p14:modId xmlns:p14="http://schemas.microsoft.com/office/powerpoint/2010/main" val="2372833435"/>
              </p:ext>
            </p:extLst>
          </p:nvPr>
        </p:nvGraphicFramePr>
        <p:xfrm>
          <a:off x="476566" y="3813811"/>
          <a:ext cx="3722901" cy="1986050"/>
        </p:xfrm>
        <a:graphic>
          <a:graphicData uri="http://schemas.openxmlformats.org/drawingml/2006/table">
            <a:tbl>
              <a:tblPr firstRow="1" bandRow="1">
                <a:tableStyleId>{5C22544A-7EE6-4342-B048-85BDC9FD1C3A}</a:tableStyleId>
              </a:tblPr>
              <a:tblGrid>
                <a:gridCol w="878700">
                  <a:extLst>
                    <a:ext uri="{9D8B030D-6E8A-4147-A177-3AD203B41FA5}">
                      <a16:colId xmlns:a16="http://schemas.microsoft.com/office/drawing/2014/main" val="2746592940"/>
                    </a:ext>
                  </a:extLst>
                </a:gridCol>
                <a:gridCol w="1790737">
                  <a:extLst>
                    <a:ext uri="{9D8B030D-6E8A-4147-A177-3AD203B41FA5}">
                      <a16:colId xmlns:a16="http://schemas.microsoft.com/office/drawing/2014/main" val="2863627707"/>
                    </a:ext>
                  </a:extLst>
                </a:gridCol>
                <a:gridCol w="1053464">
                  <a:extLst>
                    <a:ext uri="{9D8B030D-6E8A-4147-A177-3AD203B41FA5}">
                      <a16:colId xmlns:a16="http://schemas.microsoft.com/office/drawing/2014/main" val="1509070079"/>
                    </a:ext>
                  </a:extLst>
                </a:gridCol>
              </a:tblGrid>
              <a:tr h="637634">
                <a:tc>
                  <a:txBody>
                    <a:bodyPr/>
                    <a:lstStyle/>
                    <a:p>
                      <a:r>
                        <a:rPr lang="en-US" sz="1200" dirty="0">
                          <a:latin typeface="Times New Roman" panose="02020603050405020304" pitchFamily="18" charset="0"/>
                          <a:cs typeface="Times New Roman" panose="02020603050405020304" pitchFamily="18" charset="0"/>
                        </a:rPr>
                        <a:t>SR.NO</a:t>
                      </a:r>
                    </a:p>
                  </a:txBody>
                  <a:tcPr/>
                </a:tc>
                <a:tc>
                  <a:txBody>
                    <a:bodyPr/>
                    <a:lstStyle/>
                    <a:p>
                      <a:r>
                        <a:rPr lang="en-US" sz="1200" dirty="0">
                          <a:latin typeface="Times New Roman" panose="02020603050405020304" pitchFamily="18" charset="0"/>
                          <a:cs typeface="Times New Roman" panose="02020603050405020304" pitchFamily="18" charset="0"/>
                        </a:rPr>
                        <a:t>STUDENT NAME</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STUDENT ROLL NO</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48994083"/>
                  </a:ext>
                </a:extLst>
              </a:tr>
              <a:tr h="337104">
                <a:tc>
                  <a:txBody>
                    <a:bodyPr/>
                    <a:lstStyle/>
                    <a:p>
                      <a:r>
                        <a:rPr lang="en-US" sz="1200" dirty="0">
                          <a:latin typeface="Times New Roman" panose="02020603050405020304" pitchFamily="18" charset="0"/>
                          <a:cs typeface="Times New Roman" panose="02020603050405020304" pitchFamily="18" charset="0"/>
                        </a:rPr>
                        <a:t>01</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AMISH KOLI</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429</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49271914"/>
                  </a:ext>
                </a:extLst>
              </a:tr>
              <a:tr h="337104">
                <a:tc>
                  <a:txBody>
                    <a:bodyPr/>
                    <a:lstStyle/>
                    <a:p>
                      <a:r>
                        <a:rPr lang="en-US" sz="1200" dirty="0">
                          <a:latin typeface="Times New Roman" panose="02020603050405020304" pitchFamily="18" charset="0"/>
                          <a:cs typeface="Times New Roman" panose="02020603050405020304" pitchFamily="18" charset="0"/>
                        </a:rPr>
                        <a:t>02</a:t>
                      </a:r>
                    </a:p>
                  </a:txBody>
                  <a:tcPr/>
                </a:tc>
                <a:tc>
                  <a:txBody>
                    <a:bodyPr/>
                    <a:lstStyle/>
                    <a:p>
                      <a:r>
                        <a:rPr lang="en-US" sz="1200" dirty="0">
                          <a:latin typeface="Times New Roman" panose="02020603050405020304" pitchFamily="18" charset="0"/>
                          <a:cs typeface="Times New Roman" panose="02020603050405020304" pitchFamily="18" charset="0"/>
                        </a:rPr>
                        <a:t>AADESH ANGRE</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402</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62767725"/>
                  </a:ext>
                </a:extLst>
              </a:tr>
              <a:tr h="337104">
                <a:tc>
                  <a:txBody>
                    <a:bodyPr/>
                    <a:lstStyle/>
                    <a:p>
                      <a:r>
                        <a:rPr lang="en-US" sz="1200" dirty="0">
                          <a:latin typeface="Times New Roman" panose="02020603050405020304" pitchFamily="18" charset="0"/>
                          <a:cs typeface="Times New Roman" panose="02020603050405020304" pitchFamily="18" charset="0"/>
                        </a:rPr>
                        <a:t>03</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ARPIT PANDEY</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439</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79592751"/>
                  </a:ext>
                </a:extLst>
              </a:tr>
              <a:tr h="337104">
                <a:tc>
                  <a:txBody>
                    <a:bodyPr/>
                    <a:lstStyle/>
                    <a:p>
                      <a:r>
                        <a:rPr lang="en-US" sz="1200" dirty="0">
                          <a:latin typeface="Times New Roman" panose="02020603050405020304" pitchFamily="18" charset="0"/>
                          <a:cs typeface="Times New Roman" panose="02020603050405020304" pitchFamily="18" charset="0"/>
                        </a:rPr>
                        <a:t>04</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SANJEET GOUNDER</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414</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56703140"/>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Effect transition="in" filter="fade">
                                      <p:cBhvr>
                                        <p:cTn id="13" dur="1000"/>
                                        <p:tgtEl>
                                          <p:spTgt spid="8">
                                            <p:txEl>
                                              <p:pRg st="1" end="1"/>
                                            </p:txEl>
                                          </p:spTgt>
                                        </p:tgtEl>
                                      </p:cBhvr>
                                    </p:animEffect>
                                    <p:anim calcmode="lin" valueType="num">
                                      <p:cBhvr>
                                        <p:cTn id="14"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83576" y="1033418"/>
            <a:ext cx="2325370" cy="971550"/>
          </a:xfrm>
        </p:spPr>
        <p:txBody>
          <a:bodyPr>
            <a:normAutofit fontScale="90000"/>
          </a:bodyPr>
          <a:lstStyle/>
          <a:p>
            <a:pPr algn="l"/>
            <a:r>
              <a:rPr lang="en-US" sz="3600" b="1" dirty="0">
                <a:latin typeface="Times New Roman" panose="02020603050405020304" pitchFamily="18" charset="0"/>
                <a:cs typeface="Times New Roman" panose="02020603050405020304" pitchFamily="18" charset="0"/>
              </a:rPr>
              <a:t>CONTENT</a:t>
            </a:r>
            <a:endParaRPr lang="en-IN" sz="3600" b="1" dirty="0">
              <a:latin typeface="Times New Roman" panose="02020603050405020304" pitchFamily="18" charset="0"/>
              <a:cs typeface="Times New Roman" panose="02020603050405020304" pitchFamily="18" charset="0"/>
            </a:endParaRPr>
          </a:p>
        </p:txBody>
      </p:sp>
      <p:sp>
        <p:nvSpPr>
          <p:cNvPr id="11" name="Content Placeholder 10"/>
          <p:cNvSpPr>
            <a:spLocks noGrp="1"/>
          </p:cNvSpPr>
          <p:nvPr>
            <p:ph idx="1"/>
          </p:nvPr>
        </p:nvSpPr>
        <p:spPr>
          <a:xfrm>
            <a:off x="1182758" y="2148135"/>
            <a:ext cx="6958965" cy="3923665"/>
          </a:xfrm>
          <a:ln>
            <a:noFill/>
          </a:ln>
        </p:spPr>
        <p:txBody>
          <a:bodyPr>
            <a:noAutofit/>
          </a:bodyPr>
          <a:lstStyle/>
          <a:p>
            <a:pPr>
              <a:buFont typeface="Wingdings" panose="05000000000000000000" charset="0"/>
              <a:buChar char="Ø"/>
            </a:pPr>
            <a:r>
              <a:rPr lang="en-US" sz="2000" dirty="0"/>
              <a:t>ABSTRACT</a:t>
            </a:r>
          </a:p>
          <a:p>
            <a:pPr>
              <a:buFont typeface="Wingdings" panose="05000000000000000000" charset="0"/>
              <a:buChar char="Ø"/>
            </a:pPr>
            <a:r>
              <a:rPr lang="en-US" sz="2000" dirty="0">
                <a:sym typeface="+mn-ea"/>
              </a:rPr>
              <a:t>INTRODUCTION</a:t>
            </a:r>
          </a:p>
          <a:p>
            <a:pPr>
              <a:buFont typeface="Wingdings" panose="05000000000000000000" charset="0"/>
              <a:buChar char="Ø"/>
            </a:pPr>
            <a:r>
              <a:rPr lang="en-US" sz="2000" dirty="0">
                <a:sym typeface="+mn-ea"/>
              </a:rPr>
              <a:t>LITERATURE SURVEY</a:t>
            </a:r>
          </a:p>
          <a:p>
            <a:pPr>
              <a:buFont typeface="Wingdings" panose="05000000000000000000" charset="0"/>
              <a:buChar char="Ø"/>
            </a:pPr>
            <a:r>
              <a:rPr lang="en-US" sz="2000" dirty="0">
                <a:sym typeface="+mn-ea"/>
              </a:rPr>
              <a:t>EXISTING SYSTEM</a:t>
            </a:r>
          </a:p>
          <a:p>
            <a:pPr>
              <a:buFont typeface="Wingdings" panose="05000000000000000000" charset="0"/>
              <a:buChar char="Ø"/>
            </a:pPr>
            <a:r>
              <a:rPr lang="en-US" sz="2000" dirty="0">
                <a:sym typeface="+mn-ea"/>
              </a:rPr>
              <a:t>PROBLEM STATEMENT AND OBJECTIVES</a:t>
            </a:r>
          </a:p>
          <a:p>
            <a:pPr>
              <a:buFont typeface="Wingdings" panose="05000000000000000000" charset="0"/>
              <a:buChar char="Ø"/>
            </a:pPr>
            <a:r>
              <a:rPr lang="en-US" sz="2000" dirty="0">
                <a:sym typeface="+mn-ea"/>
              </a:rPr>
              <a:t>SYSTEM ARCHITECTURE</a:t>
            </a:r>
          </a:p>
          <a:p>
            <a:pPr>
              <a:buFont typeface="Wingdings" panose="05000000000000000000" charset="0"/>
              <a:buChar char="Ø"/>
            </a:pPr>
            <a:r>
              <a:rPr lang="en-US" sz="2000" dirty="0">
                <a:sym typeface="+mn-ea"/>
              </a:rPr>
              <a:t>IMPLEMENTATION DETAILS</a:t>
            </a:r>
          </a:p>
          <a:p>
            <a:pPr>
              <a:buFont typeface="Wingdings" panose="05000000000000000000" charset="0"/>
              <a:buChar char="Ø"/>
            </a:pPr>
            <a:r>
              <a:rPr lang="en-US" sz="2000" dirty="0">
                <a:sym typeface="+mn-ea"/>
              </a:rPr>
              <a:t>REFERENCES</a:t>
            </a:r>
          </a:p>
          <a:p>
            <a:pPr>
              <a:buFont typeface="Wingdings" panose="05000000000000000000" charset="0"/>
              <a:buChar char="Ø"/>
            </a:pPr>
            <a:r>
              <a:rPr lang="en-US" sz="2000" dirty="0"/>
              <a:t>THANK YOU</a:t>
            </a:r>
          </a:p>
          <a:p>
            <a:endParaRPr lang="en-US" altLang="en-IN" sz="2000" dirty="0"/>
          </a:p>
        </p:txBody>
      </p:sp>
      <p:pic>
        <p:nvPicPr>
          <p:cNvPr id="3" name="Picture 2" descr="C:\Documents and Settings\any\Desktop\MCT Logo\RGIT Logo 01 A.jpg">
            <a:extLst>
              <a:ext uri="{FF2B5EF4-FFF2-40B4-BE49-F238E27FC236}">
                <a16:creationId xmlns:a16="http://schemas.microsoft.com/office/drawing/2014/main" id="{D93DA256-AEED-913F-7410-442AAA651D8B}"/>
              </a:ext>
            </a:extLst>
          </p:cNvPr>
          <p:cNvPicPr/>
          <p:nvPr/>
        </p:nvPicPr>
        <p:blipFill>
          <a:blip r:embed="rId2" cstate="print"/>
          <a:srcRect/>
          <a:stretch>
            <a:fillRect/>
          </a:stretch>
        </p:blipFill>
        <p:spPr bwMode="auto">
          <a:xfrm>
            <a:off x="3073418" y="48607"/>
            <a:ext cx="6045160" cy="881680"/>
          </a:xfrm>
          <a:prstGeom prst="rect">
            <a:avLst/>
          </a:prstGeom>
          <a:noFill/>
          <a:ln w="9525">
            <a:noFill/>
            <a:miter lim="800000"/>
            <a:headEnd/>
            <a:tailEnd/>
          </a:ln>
        </p:spPr>
      </p:pic>
      <p:sp>
        <p:nvSpPr>
          <p:cNvPr id="5" name="TextBox 4">
            <a:extLst>
              <a:ext uri="{FF2B5EF4-FFF2-40B4-BE49-F238E27FC236}">
                <a16:creationId xmlns:a16="http://schemas.microsoft.com/office/drawing/2014/main" id="{7A212ED3-7370-1526-A985-18F71DECE1BD}"/>
              </a:ext>
            </a:extLst>
          </p:cNvPr>
          <p:cNvSpPr txBox="1"/>
          <p:nvPr/>
        </p:nvSpPr>
        <p:spPr>
          <a:xfrm>
            <a:off x="1416753" y="872271"/>
            <a:ext cx="9358489" cy="276999"/>
          </a:xfrm>
          <a:prstGeom prst="rect">
            <a:avLst/>
          </a:prstGeom>
          <a:noFill/>
        </p:spPr>
        <p:txBody>
          <a:bodyPr wrap="square">
            <a:spAutoFit/>
          </a:bodyPr>
          <a:lstStyle/>
          <a:p>
            <a:pPr algn="ctr" fontAlgn="base">
              <a:spcBef>
                <a:spcPct val="0"/>
              </a:spcBef>
              <a:spcAft>
                <a:spcPct val="0"/>
              </a:spcAft>
              <a:defRPr/>
            </a:pPr>
            <a:r>
              <a:rPr lang="en-US" sz="1200" dirty="0">
                <a:latin typeface="Times New Roman" panose="02020603050405020304" pitchFamily="18" charset="0"/>
                <a:cs typeface="Times New Roman" panose="02020603050405020304" pitchFamily="18" charset="0"/>
              </a:rPr>
              <a:t>Department of Artificial Intelligence And Data Science Engineering</a:t>
            </a:r>
            <a:endParaRPr lang="en-US" sz="1200" dirty="0">
              <a:solidFill>
                <a:srgbClr val="000000">
                  <a:lumMod val="75000"/>
                  <a:lumOff val="25000"/>
                </a:srgbClr>
              </a:solidFill>
              <a:latin typeface="Times New Roman" panose="02020603050405020304" pitchFamily="18" charset="0"/>
              <a:cs typeface="Times New Roman" panose="02020603050405020304" pitchFamily="18" charset="0"/>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fade">
                                      <p:cBhvr>
                                        <p:cTn id="12" dur="1000"/>
                                        <p:tgtEl>
                                          <p:spTgt spid="11">
                                            <p:txEl>
                                              <p:pRg st="0" end="0"/>
                                            </p:txEl>
                                          </p:spTgt>
                                        </p:tgtEl>
                                      </p:cBhvr>
                                    </p:animEffect>
                                    <p:anim calcmode="lin" valueType="num">
                                      <p:cBhvr>
                                        <p:cTn id="13"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1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1">
                                            <p:txEl>
                                              <p:pRg st="1" end="1"/>
                                            </p:txEl>
                                          </p:spTgt>
                                        </p:tgtEl>
                                        <p:attrNameLst>
                                          <p:attrName>style.visibility</p:attrName>
                                        </p:attrNameLst>
                                      </p:cBhvr>
                                      <p:to>
                                        <p:strVal val="visible"/>
                                      </p:to>
                                    </p:set>
                                    <p:animEffect transition="in" filter="fade">
                                      <p:cBhvr>
                                        <p:cTn id="19" dur="1000"/>
                                        <p:tgtEl>
                                          <p:spTgt spid="11">
                                            <p:txEl>
                                              <p:pRg st="1" end="1"/>
                                            </p:txEl>
                                          </p:spTgt>
                                        </p:tgtEl>
                                      </p:cBhvr>
                                    </p:animEffect>
                                    <p:anim calcmode="lin" valueType="num">
                                      <p:cBhvr>
                                        <p:cTn id="20" dur="1000" fill="hold"/>
                                        <p:tgtEl>
                                          <p:spTgt spid="11">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1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1">
                                            <p:txEl>
                                              <p:pRg st="2" end="2"/>
                                            </p:txEl>
                                          </p:spTgt>
                                        </p:tgtEl>
                                        <p:attrNameLst>
                                          <p:attrName>style.visibility</p:attrName>
                                        </p:attrNameLst>
                                      </p:cBhvr>
                                      <p:to>
                                        <p:strVal val="visible"/>
                                      </p:to>
                                    </p:set>
                                    <p:animEffect transition="in" filter="fade">
                                      <p:cBhvr>
                                        <p:cTn id="26" dur="1000"/>
                                        <p:tgtEl>
                                          <p:spTgt spid="11">
                                            <p:txEl>
                                              <p:pRg st="2" end="2"/>
                                            </p:txEl>
                                          </p:spTgt>
                                        </p:tgtEl>
                                      </p:cBhvr>
                                    </p:animEffect>
                                    <p:anim calcmode="lin" valueType="num">
                                      <p:cBhvr>
                                        <p:cTn id="27" dur="1000" fill="hold"/>
                                        <p:tgtEl>
                                          <p:spTgt spid="11">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1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1">
                                            <p:txEl>
                                              <p:pRg st="3" end="3"/>
                                            </p:txEl>
                                          </p:spTgt>
                                        </p:tgtEl>
                                        <p:attrNameLst>
                                          <p:attrName>style.visibility</p:attrName>
                                        </p:attrNameLst>
                                      </p:cBhvr>
                                      <p:to>
                                        <p:strVal val="visible"/>
                                      </p:to>
                                    </p:set>
                                    <p:animEffect transition="in" filter="fade">
                                      <p:cBhvr>
                                        <p:cTn id="33" dur="1000"/>
                                        <p:tgtEl>
                                          <p:spTgt spid="11">
                                            <p:txEl>
                                              <p:pRg st="3" end="3"/>
                                            </p:txEl>
                                          </p:spTgt>
                                        </p:tgtEl>
                                      </p:cBhvr>
                                    </p:animEffect>
                                    <p:anim calcmode="lin" valueType="num">
                                      <p:cBhvr>
                                        <p:cTn id="34" dur="1000" fill="hold"/>
                                        <p:tgtEl>
                                          <p:spTgt spid="11">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1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11">
                                            <p:txEl>
                                              <p:pRg st="4" end="4"/>
                                            </p:txEl>
                                          </p:spTgt>
                                        </p:tgtEl>
                                        <p:attrNameLst>
                                          <p:attrName>style.visibility</p:attrName>
                                        </p:attrNameLst>
                                      </p:cBhvr>
                                      <p:to>
                                        <p:strVal val="visible"/>
                                      </p:to>
                                    </p:set>
                                    <p:animEffect transition="in" filter="fade">
                                      <p:cBhvr>
                                        <p:cTn id="40" dur="1000"/>
                                        <p:tgtEl>
                                          <p:spTgt spid="11">
                                            <p:txEl>
                                              <p:pRg st="4" end="4"/>
                                            </p:txEl>
                                          </p:spTgt>
                                        </p:tgtEl>
                                      </p:cBhvr>
                                    </p:animEffect>
                                    <p:anim calcmode="lin" valueType="num">
                                      <p:cBhvr>
                                        <p:cTn id="41" dur="1000" fill="hold"/>
                                        <p:tgtEl>
                                          <p:spTgt spid="11">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11">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11">
                                            <p:txEl>
                                              <p:pRg st="5" end="5"/>
                                            </p:txEl>
                                          </p:spTgt>
                                        </p:tgtEl>
                                        <p:attrNameLst>
                                          <p:attrName>style.visibility</p:attrName>
                                        </p:attrNameLst>
                                      </p:cBhvr>
                                      <p:to>
                                        <p:strVal val="visible"/>
                                      </p:to>
                                    </p:set>
                                    <p:animEffect transition="in" filter="fade">
                                      <p:cBhvr>
                                        <p:cTn id="47" dur="1000"/>
                                        <p:tgtEl>
                                          <p:spTgt spid="11">
                                            <p:txEl>
                                              <p:pRg st="5" end="5"/>
                                            </p:txEl>
                                          </p:spTgt>
                                        </p:tgtEl>
                                      </p:cBhvr>
                                    </p:animEffect>
                                    <p:anim calcmode="lin" valueType="num">
                                      <p:cBhvr>
                                        <p:cTn id="48" dur="1000" fill="hold"/>
                                        <p:tgtEl>
                                          <p:spTgt spid="11">
                                            <p:txEl>
                                              <p:pRg st="5" end="5"/>
                                            </p:txEl>
                                          </p:spTgt>
                                        </p:tgtEl>
                                        <p:attrNameLst>
                                          <p:attrName>ppt_x</p:attrName>
                                        </p:attrNameLst>
                                      </p:cBhvr>
                                      <p:tavLst>
                                        <p:tav tm="0">
                                          <p:val>
                                            <p:strVal val="#ppt_x"/>
                                          </p:val>
                                        </p:tav>
                                        <p:tav tm="100000">
                                          <p:val>
                                            <p:strVal val="#ppt_x"/>
                                          </p:val>
                                        </p:tav>
                                      </p:tavLst>
                                    </p:anim>
                                    <p:anim calcmode="lin" valueType="num">
                                      <p:cBhvr>
                                        <p:cTn id="49" dur="1000" fill="hold"/>
                                        <p:tgtEl>
                                          <p:spTgt spid="11">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nodeType="clickEffect">
                                  <p:stCondLst>
                                    <p:cond delay="0"/>
                                  </p:stCondLst>
                                  <p:childTnLst>
                                    <p:set>
                                      <p:cBhvr>
                                        <p:cTn id="53" dur="1" fill="hold">
                                          <p:stCondLst>
                                            <p:cond delay="0"/>
                                          </p:stCondLst>
                                        </p:cTn>
                                        <p:tgtEl>
                                          <p:spTgt spid="11">
                                            <p:txEl>
                                              <p:pRg st="6" end="6"/>
                                            </p:txEl>
                                          </p:spTgt>
                                        </p:tgtEl>
                                        <p:attrNameLst>
                                          <p:attrName>style.visibility</p:attrName>
                                        </p:attrNameLst>
                                      </p:cBhvr>
                                      <p:to>
                                        <p:strVal val="visible"/>
                                      </p:to>
                                    </p:set>
                                    <p:animEffect transition="in" filter="fade">
                                      <p:cBhvr>
                                        <p:cTn id="54" dur="1000"/>
                                        <p:tgtEl>
                                          <p:spTgt spid="11">
                                            <p:txEl>
                                              <p:pRg st="6" end="6"/>
                                            </p:txEl>
                                          </p:spTgt>
                                        </p:tgtEl>
                                      </p:cBhvr>
                                    </p:animEffect>
                                    <p:anim calcmode="lin" valueType="num">
                                      <p:cBhvr>
                                        <p:cTn id="55" dur="1000" fill="hold"/>
                                        <p:tgtEl>
                                          <p:spTgt spid="11">
                                            <p:txEl>
                                              <p:pRg st="6" end="6"/>
                                            </p:txEl>
                                          </p:spTgt>
                                        </p:tgtEl>
                                        <p:attrNameLst>
                                          <p:attrName>ppt_x</p:attrName>
                                        </p:attrNameLst>
                                      </p:cBhvr>
                                      <p:tavLst>
                                        <p:tav tm="0">
                                          <p:val>
                                            <p:strVal val="#ppt_x"/>
                                          </p:val>
                                        </p:tav>
                                        <p:tav tm="100000">
                                          <p:val>
                                            <p:strVal val="#ppt_x"/>
                                          </p:val>
                                        </p:tav>
                                      </p:tavLst>
                                    </p:anim>
                                    <p:anim calcmode="lin" valueType="num">
                                      <p:cBhvr>
                                        <p:cTn id="56" dur="1000" fill="hold"/>
                                        <p:tgtEl>
                                          <p:spTgt spid="11">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nodeType="clickEffect">
                                  <p:stCondLst>
                                    <p:cond delay="0"/>
                                  </p:stCondLst>
                                  <p:childTnLst>
                                    <p:set>
                                      <p:cBhvr>
                                        <p:cTn id="60" dur="1" fill="hold">
                                          <p:stCondLst>
                                            <p:cond delay="0"/>
                                          </p:stCondLst>
                                        </p:cTn>
                                        <p:tgtEl>
                                          <p:spTgt spid="11">
                                            <p:txEl>
                                              <p:pRg st="7" end="7"/>
                                            </p:txEl>
                                          </p:spTgt>
                                        </p:tgtEl>
                                        <p:attrNameLst>
                                          <p:attrName>style.visibility</p:attrName>
                                        </p:attrNameLst>
                                      </p:cBhvr>
                                      <p:to>
                                        <p:strVal val="visible"/>
                                      </p:to>
                                    </p:set>
                                    <p:animEffect transition="in" filter="fade">
                                      <p:cBhvr>
                                        <p:cTn id="61" dur="1000"/>
                                        <p:tgtEl>
                                          <p:spTgt spid="11">
                                            <p:txEl>
                                              <p:pRg st="7" end="7"/>
                                            </p:txEl>
                                          </p:spTgt>
                                        </p:tgtEl>
                                      </p:cBhvr>
                                    </p:animEffect>
                                    <p:anim calcmode="lin" valueType="num">
                                      <p:cBhvr>
                                        <p:cTn id="62" dur="1000" fill="hold"/>
                                        <p:tgtEl>
                                          <p:spTgt spid="11">
                                            <p:txEl>
                                              <p:pRg st="7" end="7"/>
                                            </p:txEl>
                                          </p:spTgt>
                                        </p:tgtEl>
                                        <p:attrNameLst>
                                          <p:attrName>ppt_x</p:attrName>
                                        </p:attrNameLst>
                                      </p:cBhvr>
                                      <p:tavLst>
                                        <p:tav tm="0">
                                          <p:val>
                                            <p:strVal val="#ppt_x"/>
                                          </p:val>
                                        </p:tav>
                                        <p:tav tm="100000">
                                          <p:val>
                                            <p:strVal val="#ppt_x"/>
                                          </p:val>
                                        </p:tav>
                                      </p:tavLst>
                                    </p:anim>
                                    <p:anim calcmode="lin" valueType="num">
                                      <p:cBhvr>
                                        <p:cTn id="63" dur="1000" fill="hold"/>
                                        <p:tgtEl>
                                          <p:spTgt spid="11">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nodeType="clickEffect">
                                  <p:stCondLst>
                                    <p:cond delay="0"/>
                                  </p:stCondLst>
                                  <p:childTnLst>
                                    <p:set>
                                      <p:cBhvr>
                                        <p:cTn id="67" dur="1" fill="hold">
                                          <p:stCondLst>
                                            <p:cond delay="0"/>
                                          </p:stCondLst>
                                        </p:cTn>
                                        <p:tgtEl>
                                          <p:spTgt spid="11">
                                            <p:txEl>
                                              <p:pRg st="8" end="8"/>
                                            </p:txEl>
                                          </p:spTgt>
                                        </p:tgtEl>
                                        <p:attrNameLst>
                                          <p:attrName>style.visibility</p:attrName>
                                        </p:attrNameLst>
                                      </p:cBhvr>
                                      <p:to>
                                        <p:strVal val="visible"/>
                                      </p:to>
                                    </p:set>
                                    <p:animEffect transition="in" filter="fade">
                                      <p:cBhvr>
                                        <p:cTn id="68" dur="1000"/>
                                        <p:tgtEl>
                                          <p:spTgt spid="11">
                                            <p:txEl>
                                              <p:pRg st="8" end="8"/>
                                            </p:txEl>
                                          </p:spTgt>
                                        </p:tgtEl>
                                      </p:cBhvr>
                                    </p:animEffect>
                                    <p:anim calcmode="lin" valueType="num">
                                      <p:cBhvr>
                                        <p:cTn id="69" dur="1000" fill="hold"/>
                                        <p:tgtEl>
                                          <p:spTgt spid="11">
                                            <p:txEl>
                                              <p:pRg st="8" end="8"/>
                                            </p:txEl>
                                          </p:spTgt>
                                        </p:tgtEl>
                                        <p:attrNameLst>
                                          <p:attrName>ppt_x</p:attrName>
                                        </p:attrNameLst>
                                      </p:cBhvr>
                                      <p:tavLst>
                                        <p:tav tm="0">
                                          <p:val>
                                            <p:strVal val="#ppt_x"/>
                                          </p:val>
                                        </p:tav>
                                        <p:tav tm="100000">
                                          <p:val>
                                            <p:strVal val="#ppt_x"/>
                                          </p:val>
                                        </p:tav>
                                      </p:tavLst>
                                    </p:anim>
                                    <p:anim calcmode="lin" valueType="num">
                                      <p:cBhvr>
                                        <p:cTn id="70" dur="1000" fill="hold"/>
                                        <p:tgtEl>
                                          <p:spTgt spid="11">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64380" y="1406594"/>
            <a:ext cx="2705664" cy="648157"/>
          </a:xfrm>
        </p:spPr>
        <p:txBody>
          <a:bodyPr>
            <a:normAutofit/>
          </a:bodyPr>
          <a:lstStyle/>
          <a:p>
            <a:r>
              <a:rPr lang="en-IN" sz="3600" b="1" dirty="0">
                <a:latin typeface="Times New Roman" panose="02020603050405020304" pitchFamily="18" charset="0"/>
                <a:cs typeface="Times New Roman" panose="02020603050405020304" pitchFamily="18" charset="0"/>
              </a:rPr>
              <a:t>ABSTRACT</a:t>
            </a:r>
          </a:p>
        </p:txBody>
      </p:sp>
      <p:sp>
        <p:nvSpPr>
          <p:cNvPr id="6" name="TextBox 5"/>
          <p:cNvSpPr txBox="1"/>
          <p:nvPr/>
        </p:nvSpPr>
        <p:spPr>
          <a:xfrm>
            <a:off x="570087" y="2576432"/>
            <a:ext cx="11051823" cy="2554545"/>
          </a:xfrm>
          <a:prstGeom prst="rect">
            <a:avLst/>
          </a:prstGeom>
          <a:noFill/>
        </p:spPr>
        <p:txBody>
          <a:bodyPr wrap="square">
            <a:spAutoFit/>
          </a:bodyPr>
          <a:lstStyle/>
          <a:p>
            <a:pPr algn="just"/>
            <a:r>
              <a:rPr lang="en-US" altLang="en-US" sz="2000" dirty="0">
                <a:latin typeface="Times New Roman" panose="02020603050405020304" pitchFamily="18" charset="0"/>
                <a:cs typeface="Times New Roman" panose="02020603050405020304" pitchFamily="18" charset="0"/>
              </a:rPr>
              <a:t>This Project (Counting Calories) is to help Maintaining a balanced diet and tracking calorie intake which are essential for overall health and wellness. Calories Count is a healthcare website designed to help individuals monitor their daily energy consumption,expenditure, and nutritional needs. The platform provides personalized calories recommendations based on age, weight, and health goals. It features a food database, meal planner, and real-time insights to promote healthy lifestyle choices. With an User-friendly design and evidence-based nutritional guidance, Calories Count empowers users to achieve weight management, fitness, and overall well-being through informed dietary decisions.</a:t>
            </a:r>
          </a:p>
          <a:p>
            <a:pPr algn="just"/>
            <a:endParaRPr lang="en-US" altLang="en-US" sz="2000" dirty="0">
              <a:latin typeface="Times New Roman" panose="02020603050405020304" pitchFamily="18" charset="0"/>
              <a:cs typeface="Times New Roman" panose="02020603050405020304" pitchFamily="18" charset="0"/>
            </a:endParaRPr>
          </a:p>
        </p:txBody>
      </p:sp>
      <p:pic>
        <p:nvPicPr>
          <p:cNvPr id="3" name="Picture 2" descr="C:\Documents and Settings\any\Desktop\MCT Logo\RGIT Logo 01 A.jpg">
            <a:extLst>
              <a:ext uri="{FF2B5EF4-FFF2-40B4-BE49-F238E27FC236}">
                <a16:creationId xmlns:a16="http://schemas.microsoft.com/office/drawing/2014/main" id="{3466E4BC-6250-0812-7067-EF55033B46E2}"/>
              </a:ext>
            </a:extLst>
          </p:cNvPr>
          <p:cNvPicPr/>
          <p:nvPr/>
        </p:nvPicPr>
        <p:blipFill>
          <a:blip r:embed="rId3" cstate="print"/>
          <a:srcRect/>
          <a:stretch>
            <a:fillRect/>
          </a:stretch>
        </p:blipFill>
        <p:spPr bwMode="auto">
          <a:xfrm>
            <a:off x="3073419" y="68454"/>
            <a:ext cx="6045160" cy="881680"/>
          </a:xfrm>
          <a:prstGeom prst="rect">
            <a:avLst/>
          </a:prstGeom>
          <a:noFill/>
          <a:ln w="9525">
            <a:noFill/>
            <a:miter lim="800000"/>
            <a:headEnd/>
            <a:tailEnd/>
          </a:ln>
        </p:spPr>
      </p:pic>
      <p:sp>
        <p:nvSpPr>
          <p:cNvPr id="5" name="TextBox 4">
            <a:extLst>
              <a:ext uri="{FF2B5EF4-FFF2-40B4-BE49-F238E27FC236}">
                <a16:creationId xmlns:a16="http://schemas.microsoft.com/office/drawing/2014/main" id="{932C6D4C-1108-C198-7356-F96FF1F77826}"/>
              </a:ext>
            </a:extLst>
          </p:cNvPr>
          <p:cNvSpPr txBox="1"/>
          <p:nvPr/>
        </p:nvSpPr>
        <p:spPr>
          <a:xfrm>
            <a:off x="1821753" y="923103"/>
            <a:ext cx="8548492" cy="276999"/>
          </a:xfrm>
          <a:prstGeom prst="rect">
            <a:avLst/>
          </a:prstGeom>
          <a:noFill/>
        </p:spPr>
        <p:txBody>
          <a:bodyPr wrap="square">
            <a:spAutoFit/>
          </a:bodyPr>
          <a:lstStyle/>
          <a:p>
            <a:pPr algn="ctr" fontAlgn="base">
              <a:spcBef>
                <a:spcPct val="0"/>
              </a:spcBef>
              <a:spcAft>
                <a:spcPct val="0"/>
              </a:spcAft>
              <a:defRPr/>
            </a:pPr>
            <a:r>
              <a:rPr lang="en-US" sz="1200" dirty="0">
                <a:latin typeface="Times New Roman" panose="02020603050405020304" pitchFamily="18" charset="0"/>
                <a:cs typeface="Times New Roman" panose="02020603050405020304" pitchFamily="18" charset="0"/>
              </a:rPr>
              <a:t>Department of Artificial Intelligence And Data Science Engineering</a:t>
            </a:r>
            <a:endParaRPr lang="en-US" sz="1200" dirty="0">
              <a:solidFill>
                <a:srgbClr val="000000">
                  <a:lumMod val="75000"/>
                  <a:lumOff val="25000"/>
                </a:srgbClr>
              </a:solidFill>
              <a:latin typeface="Times New Roman" panose="02020603050405020304" pitchFamily="18" charset="0"/>
              <a:cs typeface="Times New Roman" panose="02020603050405020304" pitchFamily="18" charset="0"/>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77041" y="1276667"/>
            <a:ext cx="3637915" cy="971550"/>
          </a:xfrm>
        </p:spPr>
        <p:txBody>
          <a:bodyPr>
            <a:normAutofit/>
          </a:bodyPr>
          <a:lstStyle/>
          <a:p>
            <a:pPr algn="l"/>
            <a:r>
              <a:rPr lang="en-US" sz="3200" b="1" dirty="0">
                <a:latin typeface="Times New Roman" panose="02020603050405020304" pitchFamily="18" charset="0"/>
                <a:cs typeface="Times New Roman" panose="02020603050405020304" pitchFamily="18" charset="0"/>
              </a:rPr>
              <a:t>INTRODUCTION</a:t>
            </a:r>
            <a:endParaRPr lang="en-IN" sz="3200" b="1" dirty="0">
              <a:latin typeface="Times New Roman" panose="02020603050405020304" pitchFamily="18" charset="0"/>
              <a:cs typeface="Times New Roman" panose="02020603050405020304" pitchFamily="18" charset="0"/>
            </a:endParaRPr>
          </a:p>
        </p:txBody>
      </p:sp>
      <p:sp>
        <p:nvSpPr>
          <p:cNvPr id="3" name="Text Box 2"/>
          <p:cNvSpPr txBox="1"/>
          <p:nvPr/>
        </p:nvSpPr>
        <p:spPr>
          <a:xfrm>
            <a:off x="619124" y="2491105"/>
            <a:ext cx="10953750" cy="3477875"/>
          </a:xfrm>
          <a:prstGeom prst="rect">
            <a:avLst/>
          </a:prstGeom>
          <a:noFill/>
        </p:spPr>
        <p:txBody>
          <a:bodyPr wrap="square" rtlCol="0">
            <a:spAutoFit/>
          </a:bodyPr>
          <a:lstStyle/>
          <a:p>
            <a:r>
              <a:rPr lang="en-US" altLang="en-US" sz="2000" dirty="0">
                <a:latin typeface="Times New Roman" panose="02020603050405020304" pitchFamily="18" charset="0"/>
                <a:cs typeface="Times New Roman" panose="02020603050405020304" pitchFamily="18" charset="0"/>
              </a:rPr>
              <a:t>We understand that managing your diet and nutrition can be a challenge, but it doesn’t have to be. Whether you’re looking for maintaining your </a:t>
            </a:r>
            <a:r>
              <a:rPr lang="en-US" altLang="en-US" sz="2000" dirty="0" err="1">
                <a:latin typeface="Times New Roman" panose="02020603050405020304" pitchFamily="18" charset="0"/>
                <a:cs typeface="Times New Roman" panose="02020603050405020304" pitchFamily="18" charset="0"/>
              </a:rPr>
              <a:t>weight,Bulking</a:t>
            </a:r>
            <a:r>
              <a:rPr lang="en-US" altLang="en-US" sz="2000" dirty="0">
                <a:latin typeface="Times New Roman" panose="02020603050405020304" pitchFamily="18" charset="0"/>
                <a:cs typeface="Times New Roman" panose="02020603050405020304" pitchFamily="18" charset="0"/>
              </a:rPr>
              <a:t> your weight or simply eat healthier, we’re here to guide you every step of the way. Our easy-to-use platform allows you to effortlessly track your calories, monitor your food intake, and stay on top of your nutrition.</a:t>
            </a:r>
          </a:p>
          <a:p>
            <a:r>
              <a:rPr lang="en-US" altLang="en-US" sz="2000" dirty="0">
                <a:latin typeface="Times New Roman" panose="02020603050405020304" pitchFamily="18" charset="0"/>
                <a:cs typeface="Times New Roman" panose="02020603050405020304" pitchFamily="18" charset="0"/>
              </a:rPr>
              <a:t>With a In-depth and ever-growing food database, you can quickly log your meals and get an accurate count of your daily calories. Our Website also provides personalized recommendations and insights based on your goals and progress, making it easier to stay on track and </a:t>
            </a:r>
            <a:r>
              <a:rPr lang="en-US" altLang="en-US" sz="2000" dirty="0" err="1">
                <a:latin typeface="Times New Roman" panose="02020603050405020304" pitchFamily="18" charset="0"/>
                <a:cs typeface="Times New Roman" panose="02020603050405020304" pitchFamily="18" charset="0"/>
              </a:rPr>
              <a:t>motivated.we’re</a:t>
            </a:r>
            <a:r>
              <a:rPr lang="en-US" altLang="en-US" sz="2000" dirty="0">
                <a:latin typeface="Times New Roman" panose="02020603050405020304" pitchFamily="18" charset="0"/>
                <a:cs typeface="Times New Roman" panose="02020603050405020304" pitchFamily="18" charset="0"/>
              </a:rPr>
              <a:t> committed to supporting you in making informed decisions about your health and wellness. Whether you’re a beginner or a seasoned health Passionate individual, our platform is designed to fit your unique lifestyle and help you reach your goals, one meal at a time.</a:t>
            </a:r>
          </a:p>
          <a:p>
            <a:endParaRPr lang="en-US" altLang="en-US" sz="2000" dirty="0">
              <a:latin typeface="Times New Roman" panose="02020603050405020304" pitchFamily="18" charset="0"/>
              <a:cs typeface="Times New Roman" panose="02020603050405020304" pitchFamily="18" charset="0"/>
            </a:endParaRPr>
          </a:p>
        </p:txBody>
      </p:sp>
      <p:pic>
        <p:nvPicPr>
          <p:cNvPr id="4" name="Picture 3" descr="C:\Documents and Settings\any\Desktop\MCT Logo\RGIT Logo 01 A.jpg">
            <a:extLst>
              <a:ext uri="{FF2B5EF4-FFF2-40B4-BE49-F238E27FC236}">
                <a16:creationId xmlns:a16="http://schemas.microsoft.com/office/drawing/2014/main" id="{9B7C5B8D-2789-4F5E-D3DE-42858F1D6202}"/>
              </a:ext>
            </a:extLst>
          </p:cNvPr>
          <p:cNvPicPr/>
          <p:nvPr/>
        </p:nvPicPr>
        <p:blipFill>
          <a:blip r:embed="rId2" cstate="print"/>
          <a:srcRect/>
          <a:stretch>
            <a:fillRect/>
          </a:stretch>
        </p:blipFill>
        <p:spPr bwMode="auto">
          <a:xfrm>
            <a:off x="3073419" y="152100"/>
            <a:ext cx="6045160" cy="881680"/>
          </a:xfrm>
          <a:prstGeom prst="rect">
            <a:avLst/>
          </a:prstGeom>
          <a:noFill/>
          <a:ln w="9525">
            <a:noFill/>
            <a:miter lim="800000"/>
            <a:headEnd/>
            <a:tailEnd/>
          </a:ln>
        </p:spPr>
      </p:pic>
      <p:sp>
        <p:nvSpPr>
          <p:cNvPr id="6" name="TextBox 5">
            <a:extLst>
              <a:ext uri="{FF2B5EF4-FFF2-40B4-BE49-F238E27FC236}">
                <a16:creationId xmlns:a16="http://schemas.microsoft.com/office/drawing/2014/main" id="{B3DB6084-DF39-855D-D006-A483B87F5C6E}"/>
              </a:ext>
            </a:extLst>
          </p:cNvPr>
          <p:cNvSpPr txBox="1"/>
          <p:nvPr/>
        </p:nvSpPr>
        <p:spPr>
          <a:xfrm>
            <a:off x="3047998" y="1033779"/>
            <a:ext cx="6096000" cy="276999"/>
          </a:xfrm>
          <a:prstGeom prst="rect">
            <a:avLst/>
          </a:prstGeom>
          <a:noFill/>
        </p:spPr>
        <p:txBody>
          <a:bodyPr wrap="square">
            <a:spAutoFit/>
          </a:bodyPr>
          <a:lstStyle/>
          <a:p>
            <a:pPr algn="ctr" fontAlgn="base">
              <a:spcBef>
                <a:spcPct val="0"/>
              </a:spcBef>
              <a:spcAft>
                <a:spcPct val="0"/>
              </a:spcAft>
              <a:defRPr/>
            </a:pPr>
            <a:r>
              <a:rPr lang="en-US" sz="1200" dirty="0">
                <a:latin typeface="Times New Roman" panose="02020603050405020304" pitchFamily="18" charset="0"/>
                <a:cs typeface="Times New Roman" panose="02020603050405020304" pitchFamily="18" charset="0"/>
              </a:rPr>
              <a:t>Department of Artificial Intelligence And Data Science Engineering</a:t>
            </a:r>
            <a:endParaRPr lang="en-US" sz="1200" dirty="0">
              <a:solidFill>
                <a:srgbClr val="000000">
                  <a:lumMod val="75000"/>
                  <a:lumOff val="25000"/>
                </a:srgbClr>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98044" y="1248189"/>
            <a:ext cx="4668182" cy="496447"/>
          </a:xfrm>
        </p:spPr>
        <p:txBody>
          <a:bodyPr>
            <a:normAutofit fontScale="90000"/>
          </a:bodyPr>
          <a:lstStyle/>
          <a:p>
            <a:pPr algn="l"/>
            <a:r>
              <a:rPr lang="en-IN" sz="3600" b="1" dirty="0">
                <a:latin typeface="Times New Roman" panose="02020603050405020304" pitchFamily="18" charset="0"/>
                <a:cs typeface="Times New Roman" panose="02020603050405020304" pitchFamily="18" charset="0"/>
              </a:rPr>
              <a:t>LITERATURE SURVEY</a:t>
            </a:r>
          </a:p>
        </p:txBody>
      </p:sp>
      <p:graphicFrame>
        <p:nvGraphicFramePr>
          <p:cNvPr id="3" name="Table 2"/>
          <p:cNvGraphicFramePr/>
          <p:nvPr>
            <p:custDataLst>
              <p:tags r:id="rId1"/>
            </p:custDataLst>
            <p:extLst>
              <p:ext uri="{D42A27DB-BD31-4B8C-83A1-F6EECF244321}">
                <p14:modId xmlns:p14="http://schemas.microsoft.com/office/powerpoint/2010/main" val="97489163"/>
              </p:ext>
            </p:extLst>
          </p:nvPr>
        </p:nvGraphicFramePr>
        <p:xfrm>
          <a:off x="355950" y="1852871"/>
          <a:ext cx="11480098" cy="4443319"/>
        </p:xfrm>
        <a:graphic>
          <a:graphicData uri="http://schemas.openxmlformats.org/drawingml/2006/table">
            <a:tbl>
              <a:tblPr firstRow="1" bandRow="1">
                <a:tableStyleId>{5C22544A-7EE6-4342-B048-85BDC9FD1C3A}</a:tableStyleId>
              </a:tblPr>
              <a:tblGrid>
                <a:gridCol w="1958272">
                  <a:extLst>
                    <a:ext uri="{9D8B030D-6E8A-4147-A177-3AD203B41FA5}">
                      <a16:colId xmlns:a16="http://schemas.microsoft.com/office/drawing/2014/main" val="20000"/>
                    </a:ext>
                  </a:extLst>
                </a:gridCol>
                <a:gridCol w="1952978">
                  <a:extLst>
                    <a:ext uri="{9D8B030D-6E8A-4147-A177-3AD203B41FA5}">
                      <a16:colId xmlns:a16="http://schemas.microsoft.com/office/drawing/2014/main" val="20001"/>
                    </a:ext>
                  </a:extLst>
                </a:gridCol>
                <a:gridCol w="1907822">
                  <a:extLst>
                    <a:ext uri="{9D8B030D-6E8A-4147-A177-3AD203B41FA5}">
                      <a16:colId xmlns:a16="http://schemas.microsoft.com/office/drawing/2014/main" val="20002"/>
                    </a:ext>
                  </a:extLst>
                </a:gridCol>
                <a:gridCol w="1527337">
                  <a:extLst>
                    <a:ext uri="{9D8B030D-6E8A-4147-A177-3AD203B41FA5}">
                      <a16:colId xmlns:a16="http://schemas.microsoft.com/office/drawing/2014/main" val="20003"/>
                    </a:ext>
                  </a:extLst>
                </a:gridCol>
                <a:gridCol w="4133689">
                  <a:extLst>
                    <a:ext uri="{9D8B030D-6E8A-4147-A177-3AD203B41FA5}">
                      <a16:colId xmlns:a16="http://schemas.microsoft.com/office/drawing/2014/main" val="1207223184"/>
                    </a:ext>
                  </a:extLst>
                </a:gridCol>
              </a:tblGrid>
              <a:tr h="823059">
                <a:tc>
                  <a:txBody>
                    <a:bodyPr/>
                    <a:lstStyle/>
                    <a:p>
                      <a:pPr>
                        <a:buNone/>
                      </a:pPr>
                      <a:r>
                        <a:rPr lang="en-US" altLang="en-US" sz="1600" dirty="0"/>
                        <a:t>AUTHORS &amp; YEAR</a:t>
                      </a:r>
                    </a:p>
                  </a:txBody>
                  <a:tcPr/>
                </a:tc>
                <a:tc>
                  <a:txBody>
                    <a:bodyPr/>
                    <a:lstStyle/>
                    <a:p>
                      <a:pPr>
                        <a:buNone/>
                      </a:pPr>
                      <a:r>
                        <a:rPr lang="en-US" altLang="en-US" sz="1600" dirty="0"/>
                        <a:t>TITLE OF STUDY</a:t>
                      </a:r>
                    </a:p>
                  </a:txBody>
                  <a:tcPr/>
                </a:tc>
                <a:tc>
                  <a:txBody>
                    <a:bodyPr/>
                    <a:lstStyle/>
                    <a:p>
                      <a:pPr>
                        <a:buNone/>
                      </a:pPr>
                      <a:r>
                        <a:rPr lang="en-US" altLang="en-US" sz="1600" dirty="0"/>
                        <a:t>METHODOLOGY</a:t>
                      </a:r>
                    </a:p>
                  </a:txBody>
                  <a:tcPr/>
                </a:tc>
                <a:tc>
                  <a:txBody>
                    <a:bodyPr/>
                    <a:lstStyle/>
                    <a:p>
                      <a:pPr>
                        <a:buNone/>
                      </a:pPr>
                      <a:r>
                        <a:rPr lang="en-US" altLang="en-US" sz="1600" dirty="0"/>
                        <a:t>LIMITATIONS</a:t>
                      </a:r>
                    </a:p>
                  </a:txBody>
                  <a:tcPr/>
                </a:tc>
                <a:tc>
                  <a:txBody>
                    <a:bodyPr/>
                    <a:lstStyle/>
                    <a:p>
                      <a:pPr>
                        <a:buNone/>
                      </a:pPr>
                      <a:r>
                        <a:rPr lang="en-US" altLang="en-US" sz="1600" dirty="0"/>
                        <a:t>BRIEF DESCRIPTION</a:t>
                      </a:r>
                    </a:p>
                  </a:txBody>
                  <a:tcPr/>
                </a:tc>
                <a:extLst>
                  <a:ext uri="{0D108BD9-81ED-4DB2-BD59-A6C34878D82A}">
                    <a16:rowId xmlns:a16="http://schemas.microsoft.com/office/drawing/2014/main" val="10000"/>
                  </a:ext>
                </a:extLst>
              </a:tr>
              <a:tr h="1039654">
                <a:tc>
                  <a:txBody>
                    <a:bodyPr/>
                    <a:lstStyle/>
                    <a:p>
                      <a:pPr>
                        <a:buNone/>
                      </a:pPr>
                      <a:r>
                        <a:rPr lang="en-IN" sz="1400" dirty="0">
                          <a:latin typeface="Times New Roman" panose="02020603050405020304" pitchFamily="18" charset="0"/>
                          <a:cs typeface="Times New Roman" panose="02020603050405020304" pitchFamily="18" charset="0"/>
                        </a:rPr>
                        <a:t>Brown, A. &amp; Lee (2018)</a:t>
                      </a:r>
                      <a:endParaRPr lang="en-US" altLang="en-US" sz="1400" b="0" dirty="0">
                        <a:latin typeface="Times New Roman" panose="02020603050405020304" pitchFamily="18" charset="0"/>
                        <a:cs typeface="Times New Roman" panose="02020603050405020304" pitchFamily="18" charset="0"/>
                      </a:endParaRPr>
                    </a:p>
                  </a:txBody>
                  <a:tcPr/>
                </a:tc>
                <a:tc>
                  <a:txBody>
                    <a:bodyPr/>
                    <a:lstStyle/>
                    <a:p>
                      <a:pPr>
                        <a:buNone/>
                      </a:pPr>
                      <a:r>
                        <a:rPr lang="en-US" sz="1400" dirty="0">
                          <a:latin typeface="Times New Roman" panose="02020603050405020304" pitchFamily="18" charset="0"/>
                          <a:cs typeface="Times New Roman" panose="02020603050405020304" pitchFamily="18" charset="0"/>
                        </a:rPr>
                        <a:t>Exploring User Engagement with Calorie Counting Websites</a:t>
                      </a:r>
                      <a:endParaRPr lang="en-US" altLang="en-US" sz="1400" b="0" dirty="0">
                        <a:latin typeface="Times New Roman" panose="02020603050405020304" pitchFamily="18" charset="0"/>
                        <a:cs typeface="Times New Roman" panose="02020603050405020304" pitchFamily="18" charset="0"/>
                      </a:endParaRPr>
                    </a:p>
                  </a:txBody>
                  <a:tcPr/>
                </a:tc>
                <a:tc>
                  <a:txBody>
                    <a:bodyPr/>
                    <a:lstStyle/>
                    <a:p>
                      <a:pPr>
                        <a:buNone/>
                      </a:pPr>
                      <a:r>
                        <a:rPr lang="en-IN" sz="1400" dirty="0">
                          <a:latin typeface="Times New Roman" panose="02020603050405020304" pitchFamily="18" charset="0"/>
                          <a:cs typeface="Times New Roman" panose="02020603050405020304" pitchFamily="18" charset="0"/>
                        </a:rPr>
                        <a:t>User Engagement Analysis</a:t>
                      </a:r>
                      <a:endParaRPr lang="en-US" altLang="en-US" sz="1400" dirty="0">
                        <a:latin typeface="Times New Roman" panose="02020603050405020304" pitchFamily="18" charset="0"/>
                        <a:cs typeface="Times New Roman" panose="02020603050405020304" pitchFamily="18" charset="0"/>
                      </a:endParaRPr>
                    </a:p>
                  </a:txBody>
                  <a:tcPr/>
                </a:tc>
                <a:tc>
                  <a:txBody>
                    <a:bodyPr/>
                    <a:lstStyle/>
                    <a:p>
                      <a:pPr>
                        <a:buNone/>
                      </a:pPr>
                      <a:r>
                        <a:rPr lang="en-IN" sz="1400" dirty="0">
                          <a:latin typeface="Times New Roman" panose="02020603050405020304" pitchFamily="18" charset="0"/>
                          <a:cs typeface="Times New Roman" panose="02020603050405020304" pitchFamily="18" charset="0"/>
                        </a:rPr>
                        <a:t>Premium Plans Subscription</a:t>
                      </a:r>
                      <a:endParaRPr lang="en-US" altLang="en-US" sz="1400" dirty="0">
                        <a:latin typeface="Times New Roman" panose="02020603050405020304" pitchFamily="18" charset="0"/>
                        <a:cs typeface="Times New Roman" panose="02020603050405020304" pitchFamily="18" charset="0"/>
                      </a:endParaRPr>
                    </a:p>
                  </a:txBody>
                  <a:tcPr/>
                </a:tc>
                <a:tc>
                  <a:txBody>
                    <a:bodyPr/>
                    <a:lstStyle/>
                    <a:p>
                      <a:pPr>
                        <a:buNone/>
                      </a:pPr>
                      <a:r>
                        <a:rPr lang="en-US" altLang="en-US" sz="1400" dirty="0">
                          <a:latin typeface="Times New Roman" panose="02020603050405020304" pitchFamily="18" charset="0"/>
                          <a:cs typeface="Times New Roman" panose="02020603050405020304" pitchFamily="18" charset="0"/>
                        </a:rPr>
                        <a:t>This website is Paid Version Website and </a:t>
                      </a:r>
                      <a:r>
                        <a:rPr lang="en-IN" sz="1400" dirty="0">
                          <a:latin typeface="Times New Roman" panose="02020603050405020304" pitchFamily="18" charset="0"/>
                          <a:cs typeface="Times New Roman" panose="02020603050405020304" pitchFamily="18" charset="0"/>
                        </a:rPr>
                        <a:t>Time-Consuming Logging and </a:t>
                      </a:r>
                      <a:r>
                        <a:rPr lang="en-US" altLang="en-US" sz="1400" dirty="0">
                          <a:latin typeface="Times New Roman" panose="02020603050405020304" pitchFamily="18" charset="0"/>
                          <a:cs typeface="Times New Roman" panose="02020603050405020304" pitchFamily="18" charset="0"/>
                        </a:rPr>
                        <a:t>we are providing for free of cost and very </a:t>
                      </a:r>
                      <a:r>
                        <a:rPr lang="en-IN" sz="1400" dirty="0">
                          <a:latin typeface="Times New Roman" panose="02020603050405020304" pitchFamily="18" charset="0"/>
                          <a:cs typeface="Times New Roman" panose="02020603050405020304" pitchFamily="18" charset="0"/>
                        </a:rPr>
                        <a:t>User-Friendly Interface</a:t>
                      </a:r>
                      <a:endParaRPr lang="en-US" alt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1209006">
                <a:tc>
                  <a:txBody>
                    <a:bodyPr/>
                    <a:lstStyle/>
                    <a:p>
                      <a:pPr>
                        <a:buNone/>
                      </a:pPr>
                      <a:r>
                        <a:rPr lang="en-IN" sz="1400" dirty="0">
                          <a:latin typeface="Times New Roman" panose="02020603050405020304" pitchFamily="18" charset="0"/>
                          <a:cs typeface="Times New Roman" panose="02020603050405020304" pitchFamily="18" charset="0"/>
                        </a:rPr>
                        <a:t>Harris, L. &amp; Patel  (2019)</a:t>
                      </a:r>
                      <a:endParaRPr lang="en-US" altLang="en-US" sz="1400" b="0" dirty="0">
                        <a:latin typeface="Times New Roman" panose="02020603050405020304" pitchFamily="18" charset="0"/>
                        <a:cs typeface="Times New Roman" panose="02020603050405020304" pitchFamily="18" charset="0"/>
                      </a:endParaRPr>
                    </a:p>
                  </a:txBody>
                  <a:tcPr/>
                </a:tc>
                <a:tc>
                  <a:txBody>
                    <a:bodyPr/>
                    <a:lstStyle/>
                    <a:p>
                      <a:pPr>
                        <a:buNone/>
                      </a:pPr>
                      <a:r>
                        <a:rPr lang="en-US" sz="1400" dirty="0">
                          <a:latin typeface="Times New Roman" panose="02020603050405020304" pitchFamily="18" charset="0"/>
                          <a:cs typeface="Times New Roman" panose="02020603050405020304" pitchFamily="18" charset="0"/>
                        </a:rPr>
                        <a:t>Comparison of Calorie Counting Websites with Traditional Diet Methods</a:t>
                      </a:r>
                      <a:endParaRPr lang="en-US" altLang="en-US" sz="1400" dirty="0">
                        <a:latin typeface="Times New Roman" panose="02020603050405020304" pitchFamily="18" charset="0"/>
                        <a:cs typeface="Times New Roman" panose="02020603050405020304" pitchFamily="18" charset="0"/>
                      </a:endParaRPr>
                    </a:p>
                  </a:txBody>
                  <a:tcPr/>
                </a:tc>
                <a:tc>
                  <a:txBody>
                    <a:bodyPr/>
                    <a:lstStyle/>
                    <a:p>
                      <a:pPr>
                        <a:buNone/>
                      </a:pPr>
                      <a:r>
                        <a:rPr lang="en-IN" sz="1400" dirty="0">
                          <a:latin typeface="Times New Roman" panose="02020603050405020304" pitchFamily="18" charset="0"/>
                          <a:cs typeface="Times New Roman" panose="02020603050405020304" pitchFamily="18" charset="0"/>
                        </a:rPr>
                        <a:t>Comparative Study</a:t>
                      </a:r>
                      <a:endParaRPr lang="en-US" altLang="en-US" sz="1400" dirty="0">
                        <a:latin typeface="Times New Roman" panose="02020603050405020304" pitchFamily="18" charset="0"/>
                        <a:cs typeface="Times New Roman" panose="02020603050405020304" pitchFamily="18" charset="0"/>
                      </a:endParaRPr>
                    </a:p>
                  </a:txBody>
                  <a:tcPr/>
                </a:tc>
                <a:tc>
                  <a:txBody>
                    <a:bodyPr/>
                    <a:lstStyle/>
                    <a:p>
                      <a:pPr>
                        <a:buNone/>
                      </a:pPr>
                      <a:r>
                        <a:rPr lang="en-IN" sz="1400" dirty="0">
                          <a:latin typeface="Times New Roman" panose="02020603050405020304" pitchFamily="18" charset="0"/>
                          <a:cs typeface="Times New Roman" panose="02020603050405020304" pitchFamily="18" charset="0"/>
                        </a:rPr>
                        <a:t>Lack of Diet meal system</a:t>
                      </a:r>
                      <a:endParaRPr lang="en-US" altLang="en-US" sz="1400" dirty="0">
                        <a:latin typeface="Times New Roman" panose="02020603050405020304" pitchFamily="18" charset="0"/>
                        <a:cs typeface="Times New Roman" panose="02020603050405020304" pitchFamily="18" charset="0"/>
                      </a:endParaRPr>
                    </a:p>
                  </a:txBody>
                  <a:tcPr/>
                </a:tc>
                <a:tc>
                  <a:txBody>
                    <a:bodyPr/>
                    <a:lstStyle/>
                    <a:p>
                      <a:pPr>
                        <a:buNone/>
                      </a:pPr>
                      <a:r>
                        <a:rPr lang="en-US" altLang="en-US" sz="1400" dirty="0">
                          <a:latin typeface="Times New Roman" panose="02020603050405020304" pitchFamily="18" charset="0"/>
                          <a:cs typeface="Times New Roman" panose="02020603050405020304" pitchFamily="18" charset="0"/>
                        </a:rPr>
                        <a:t>This website content of European base Diet plan and we are providing Indian base Diet plan</a:t>
                      </a:r>
                    </a:p>
                  </a:txBody>
                  <a:tcPr/>
                </a:tc>
                <a:extLst>
                  <a:ext uri="{0D108BD9-81ED-4DB2-BD59-A6C34878D82A}">
                    <a16:rowId xmlns:a16="http://schemas.microsoft.com/office/drawing/2014/main" val="10002"/>
                  </a:ext>
                </a:extLst>
              </a:tr>
              <a:tr h="1193988">
                <a:tc>
                  <a:txBody>
                    <a:bodyPr/>
                    <a:lstStyle/>
                    <a:p>
                      <a:pPr>
                        <a:buNone/>
                      </a:pPr>
                      <a:r>
                        <a:rPr lang="en-IN" sz="1400" dirty="0">
                          <a:latin typeface="Times New Roman" panose="02020603050405020304" pitchFamily="18" charset="0"/>
                          <a:cs typeface="Times New Roman" panose="02020603050405020304" pitchFamily="18" charset="0"/>
                        </a:rPr>
                        <a:t>Smith, J (2020)</a:t>
                      </a:r>
                      <a:endParaRPr lang="en-US" altLang="en-US" sz="1400" dirty="0">
                        <a:latin typeface="Times New Roman" panose="02020603050405020304" pitchFamily="18" charset="0"/>
                        <a:cs typeface="Times New Roman" panose="02020603050405020304" pitchFamily="18" charset="0"/>
                      </a:endParaRPr>
                    </a:p>
                  </a:txBody>
                  <a:tcPr/>
                </a:tc>
                <a:tc>
                  <a:txBody>
                    <a:bodyPr/>
                    <a:lstStyle/>
                    <a:p>
                      <a:pPr>
                        <a:buNone/>
                      </a:pPr>
                      <a:r>
                        <a:rPr lang="en-US" sz="1400" dirty="0">
                          <a:latin typeface="Times New Roman" panose="02020603050405020304" pitchFamily="18" charset="0"/>
                          <a:cs typeface="Times New Roman" panose="02020603050405020304" pitchFamily="18" charset="0"/>
                        </a:rPr>
                        <a:t>Accuracy of Self-Reported Calorie Intake on Weight Loss Websites</a:t>
                      </a:r>
                      <a:endParaRPr lang="en-US" altLang="en-US" sz="1400" dirty="0">
                        <a:latin typeface="Times New Roman" panose="02020603050405020304" pitchFamily="18" charset="0"/>
                        <a:cs typeface="Times New Roman" panose="02020603050405020304" pitchFamily="18" charset="0"/>
                      </a:endParaRPr>
                    </a:p>
                  </a:txBody>
                  <a:tcPr/>
                </a:tc>
                <a:tc>
                  <a:txBody>
                    <a:bodyPr/>
                    <a:lstStyle/>
                    <a:p>
                      <a:pPr>
                        <a:buNone/>
                      </a:pPr>
                      <a:r>
                        <a:rPr lang="en-IN" sz="1400" dirty="0">
                          <a:latin typeface="Times New Roman" panose="02020603050405020304" pitchFamily="18" charset="0"/>
                          <a:cs typeface="Times New Roman" panose="02020603050405020304" pitchFamily="18" charset="0"/>
                        </a:rPr>
                        <a:t>Survey-based Approach</a:t>
                      </a:r>
                      <a:endParaRPr lang="en-US" altLang="en-US" sz="1400" dirty="0">
                        <a:latin typeface="Times New Roman" panose="02020603050405020304" pitchFamily="18" charset="0"/>
                        <a:cs typeface="Times New Roman" panose="02020603050405020304" pitchFamily="18" charset="0"/>
                      </a:endParaRPr>
                    </a:p>
                  </a:txBody>
                  <a:tcPr/>
                </a:tc>
                <a:tc>
                  <a:txBody>
                    <a:bodyPr/>
                    <a:lstStyle/>
                    <a:p>
                      <a:pPr>
                        <a:buNone/>
                      </a:pPr>
                      <a:r>
                        <a:rPr lang="en-IN" sz="1400" dirty="0">
                          <a:latin typeface="Times New Roman" panose="02020603050405020304" pitchFamily="18" charset="0"/>
                          <a:cs typeface="Times New Roman" panose="02020603050405020304" pitchFamily="18" charset="0"/>
                        </a:rPr>
                        <a:t>Lack of Data </a:t>
                      </a:r>
                      <a:r>
                        <a:rPr lang="en-US" altLang="en-US" sz="1400" dirty="0">
                          <a:latin typeface="Times New Roman" panose="02020603050405020304" pitchFamily="18" charset="0"/>
                          <a:cs typeface="Times New Roman" panose="02020603050405020304" pitchFamily="18" charset="0"/>
                        </a:rPr>
                        <a:t>Accuracy and Precision</a:t>
                      </a:r>
                    </a:p>
                  </a:txBody>
                  <a:tcPr/>
                </a:tc>
                <a:tc>
                  <a:txBody>
                    <a:bodyPr/>
                    <a:lstStyle/>
                    <a:p>
                      <a:pPr marL="0" marR="0" lvl="0" indent="0" algn="l" defTabSz="914400" eaLnBrk="1" fontAlgn="base" latinLnBrk="0" hangingPunct="1">
                        <a:lnSpc>
                          <a:spcPct val="100000"/>
                        </a:lnSpc>
                        <a:spcBef>
                          <a:spcPct val="0"/>
                        </a:spcBef>
                        <a:spcAft>
                          <a:spcPct val="0"/>
                        </a:spcAft>
                        <a:buClrTx/>
                        <a:buSzTx/>
                        <a:buFont typeface="Arial" panose="020B0604020202020204" pitchFamily="34" charset="0"/>
                        <a:buNone/>
                        <a:tabLst/>
                        <a:defRPr/>
                      </a:pPr>
                      <a:r>
                        <a:rPr lang="en-US" altLang="en-US" sz="1400" dirty="0">
                          <a:latin typeface="Times New Roman" panose="02020603050405020304" pitchFamily="18" charset="0"/>
                          <a:cs typeface="Times New Roman" panose="02020603050405020304" pitchFamily="18" charset="0"/>
                        </a:rPr>
                        <a:t>This website content lack of Accuracy and Precision of data as compare to our website we are giving Proper Diet and </a:t>
                      </a:r>
                      <a:r>
                        <a:rPr lang="en-US" sz="1400" dirty="0">
                          <a:latin typeface="Times New Roman" panose="02020603050405020304" pitchFamily="18" charset="0"/>
                          <a:cs typeface="Times New Roman" panose="02020603050405020304" pitchFamily="18" charset="0"/>
                        </a:rPr>
                        <a:t>Weight Loss</a:t>
                      </a:r>
                      <a:r>
                        <a:rPr lang="en-US" altLang="en-US" sz="1400" dirty="0">
                          <a:latin typeface="Times New Roman" panose="02020603050405020304" pitchFamily="18" charset="0"/>
                          <a:cs typeface="Times New Roman" panose="02020603050405020304" pitchFamily="18" charset="0"/>
                        </a:rPr>
                        <a:t> Accuracy and Precision </a:t>
                      </a:r>
                    </a:p>
                    <a:p>
                      <a:pPr marL="0" marR="0" lvl="0" indent="0" algn="l" defTabSz="914400" eaLnBrk="1" fontAlgn="base" latinLnBrk="0" hangingPunct="1">
                        <a:lnSpc>
                          <a:spcPct val="100000"/>
                        </a:lnSpc>
                        <a:spcBef>
                          <a:spcPct val="0"/>
                        </a:spcBef>
                        <a:spcAft>
                          <a:spcPct val="0"/>
                        </a:spcAft>
                        <a:buClrTx/>
                        <a:buSzTx/>
                        <a:buFont typeface="Arial" panose="020B0604020202020204" pitchFamily="34" charset="0"/>
                        <a:buNone/>
                        <a:tabLst/>
                        <a:defRPr/>
                      </a:pPr>
                      <a:r>
                        <a:rPr lang="en-US" altLang="en-US" sz="1400" dirty="0">
                          <a:latin typeface="Times New Roman" panose="02020603050405020304" pitchFamily="18" charset="0"/>
                          <a:cs typeface="Times New Roman" panose="02020603050405020304" pitchFamily="18" charset="0"/>
                        </a:rPr>
                        <a:t>As per this website this Website given Pound base data and we are given In Kilograms data (</a:t>
                      </a:r>
                      <a:r>
                        <a:rPr lang="en-IN" sz="1400" dirty="0">
                          <a:latin typeface="Times New Roman" panose="02020603050405020304" pitchFamily="18" charset="0"/>
                          <a:cs typeface="Times New Roman" panose="02020603050405020304" pitchFamily="18" charset="0"/>
                        </a:rPr>
                        <a:t>Accuracy of Snap Feature)</a:t>
                      </a:r>
                      <a:endParaRPr lang="en-US" alt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bl>
          </a:graphicData>
        </a:graphic>
      </p:graphicFrame>
      <p:pic>
        <p:nvPicPr>
          <p:cNvPr id="4" name="Picture 3" descr="C:\Documents and Settings\any\Desktop\MCT Logo\RGIT Logo 01 A.jpg">
            <a:extLst>
              <a:ext uri="{FF2B5EF4-FFF2-40B4-BE49-F238E27FC236}">
                <a16:creationId xmlns:a16="http://schemas.microsoft.com/office/drawing/2014/main" id="{BAAA0817-C4A6-C85C-CC80-3DF935F3F6A1}"/>
              </a:ext>
            </a:extLst>
          </p:cNvPr>
          <p:cNvPicPr/>
          <p:nvPr/>
        </p:nvPicPr>
        <p:blipFill>
          <a:blip r:embed="rId3" cstate="print"/>
          <a:srcRect/>
          <a:stretch>
            <a:fillRect/>
          </a:stretch>
        </p:blipFill>
        <p:spPr bwMode="auto">
          <a:xfrm>
            <a:off x="3073419" y="152100"/>
            <a:ext cx="6045160" cy="881680"/>
          </a:xfrm>
          <a:prstGeom prst="rect">
            <a:avLst/>
          </a:prstGeom>
          <a:noFill/>
          <a:ln w="9525">
            <a:noFill/>
            <a:miter lim="800000"/>
            <a:headEnd/>
            <a:tailEnd/>
          </a:ln>
        </p:spPr>
      </p:pic>
      <p:sp>
        <p:nvSpPr>
          <p:cNvPr id="6" name="TextBox 5">
            <a:extLst>
              <a:ext uri="{FF2B5EF4-FFF2-40B4-BE49-F238E27FC236}">
                <a16:creationId xmlns:a16="http://schemas.microsoft.com/office/drawing/2014/main" id="{4DD2F06C-188F-F192-5775-9AC8F280EF31}"/>
              </a:ext>
            </a:extLst>
          </p:cNvPr>
          <p:cNvSpPr txBox="1"/>
          <p:nvPr/>
        </p:nvSpPr>
        <p:spPr>
          <a:xfrm>
            <a:off x="2884135" y="971190"/>
            <a:ext cx="6096000" cy="276999"/>
          </a:xfrm>
          <a:prstGeom prst="rect">
            <a:avLst/>
          </a:prstGeom>
          <a:noFill/>
        </p:spPr>
        <p:txBody>
          <a:bodyPr wrap="square">
            <a:spAutoFit/>
          </a:bodyPr>
          <a:lstStyle/>
          <a:p>
            <a:pPr algn="ctr" fontAlgn="base">
              <a:spcBef>
                <a:spcPct val="0"/>
              </a:spcBef>
              <a:spcAft>
                <a:spcPct val="0"/>
              </a:spcAft>
              <a:defRPr/>
            </a:pPr>
            <a:r>
              <a:rPr lang="en-US" sz="1200" dirty="0">
                <a:latin typeface="Times New Roman" panose="02020603050405020304" pitchFamily="18" charset="0"/>
                <a:cs typeface="Times New Roman" panose="02020603050405020304" pitchFamily="18" charset="0"/>
              </a:rPr>
              <a:t>Department of Artificial Intelligence And Data Science Engineering</a:t>
            </a:r>
            <a:endParaRPr lang="en-US" sz="1200" dirty="0">
              <a:solidFill>
                <a:srgbClr val="000000">
                  <a:lumMod val="75000"/>
                  <a:lumOff val="25000"/>
                </a:srgbClr>
              </a:solidFill>
              <a:latin typeface="Times New Roman" panose="02020603050405020304" pitchFamily="18" charset="0"/>
              <a:cs typeface="Times New Roman" panose="02020603050405020304" pitchFamily="18" charset="0"/>
            </a:endParaRPr>
          </a:p>
        </p:txBody>
      </p:sp>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941390" y="1355198"/>
            <a:ext cx="4309218" cy="530047"/>
          </a:xfrm>
        </p:spPr>
        <p:txBody>
          <a:bodyPr>
            <a:normAutofit fontScale="90000"/>
          </a:bodyPr>
          <a:lstStyle/>
          <a:p>
            <a:r>
              <a:rPr lang="en-IN" altLang="en-US" sz="3600" b="1" dirty="0">
                <a:latin typeface="Times New Roman" panose="02020603050405020304" pitchFamily="18" charset="0"/>
                <a:cs typeface="Times New Roman" panose="02020603050405020304" pitchFamily="18" charset="0"/>
              </a:rPr>
              <a:t>EXISTING SYSTEM</a:t>
            </a:r>
            <a:endParaRPr lang="en-IN" altLang="en-US" sz="3600"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273756" y="1972320"/>
            <a:ext cx="11644488" cy="3416320"/>
          </a:xfrm>
          <a:prstGeom prst="rect">
            <a:avLst/>
          </a:prstGeom>
          <a:noFill/>
        </p:spPr>
        <p:txBody>
          <a:bodyPr wrap="square">
            <a:spAutoFit/>
          </a:bodyPr>
          <a:lstStyle/>
          <a:p>
            <a:pPr marL="342900" indent="-342900">
              <a:buAutoNum type="arabicPeriod"/>
            </a:pPr>
            <a:r>
              <a:rPr lang="en-IN" dirty="0">
                <a:latin typeface="Times New Roman" panose="02020603050405020304" pitchFamily="18" charset="0"/>
                <a:cs typeface="Times New Roman" panose="02020603050405020304" pitchFamily="18" charset="0"/>
              </a:rPr>
              <a:t>MyFitnessPal : A comprehensive app that allows users to track their food intake and exercise routines. It boasts a vast food database and integrates with various fitness devices.</a:t>
            </a:r>
          </a:p>
          <a:p>
            <a:pPr marL="342900" indent="-342900">
              <a:buAutoNum type="arabicPeriod"/>
            </a:pPr>
            <a:endParaRPr lang="en-IN" dirty="0">
              <a:latin typeface="Times New Roman" panose="02020603050405020304" pitchFamily="18" charset="0"/>
              <a:cs typeface="Times New Roman" panose="02020603050405020304" pitchFamily="18" charset="0"/>
            </a:endParaRPr>
          </a:p>
          <a:p>
            <a:pPr marL="342900" indent="-342900">
              <a:buFontTx/>
              <a:buAutoNum type="arabicPeriod"/>
            </a:pPr>
            <a:r>
              <a:rPr lang="en-IN" dirty="0">
                <a:latin typeface="Times New Roman" panose="02020603050405020304" pitchFamily="18" charset="0"/>
                <a:cs typeface="Times New Roman" panose="02020603050405020304" pitchFamily="18" charset="0"/>
              </a:rPr>
              <a:t>Lose It : Focuses on weight loss through calorie tracking and offers personalized weight loss plans. It includes features like a barcode scanner and a large food database.</a:t>
            </a:r>
          </a:p>
          <a:p>
            <a:pPr marL="342900" indent="-342900">
              <a:buFontTx/>
              <a:buAutoNum type="arabicPeriod"/>
            </a:pPr>
            <a:endParaRPr lang="en-IN" dirty="0">
              <a:latin typeface="Times New Roman" panose="02020603050405020304" pitchFamily="18" charset="0"/>
              <a:cs typeface="Times New Roman" panose="02020603050405020304" pitchFamily="18" charset="0"/>
            </a:endParaRPr>
          </a:p>
          <a:p>
            <a:pPr marL="342900" indent="-342900">
              <a:buAutoNum type="arabicPeriod"/>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FatSecret</a:t>
            </a:r>
            <a:r>
              <a:rPr lang="en-IN" dirty="0">
                <a:latin typeface="Times New Roman" panose="02020603050405020304" pitchFamily="18" charset="0"/>
                <a:cs typeface="Times New Roman" panose="02020603050405020304" pitchFamily="18" charset="0"/>
              </a:rPr>
              <a:t> : Offers a user-friendly interface with a comprehensive food database, exercise log, and weight tracking features. It also includes a community feature for support and motivation.</a:t>
            </a:r>
          </a:p>
          <a:p>
            <a:pPr marL="342900" indent="-342900">
              <a:buAutoNum type="arabicPeriod"/>
            </a:pPr>
            <a:endParaRPr lang="en-IN" dirty="0">
              <a:latin typeface="Times New Roman" panose="02020603050405020304" pitchFamily="18" charset="0"/>
              <a:cs typeface="Times New Roman" panose="02020603050405020304" pitchFamily="18" charset="0"/>
            </a:endParaRPr>
          </a:p>
          <a:p>
            <a:pPr marL="342900" indent="-342900">
              <a:buAutoNum type="arabicPeriod"/>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HealthifyMe</a:t>
            </a:r>
            <a:r>
              <a:rPr lang="en-IN" dirty="0">
                <a:latin typeface="Times New Roman" panose="02020603050405020304" pitchFamily="18" charset="0"/>
                <a:cs typeface="Times New Roman" panose="02020603050405020304" pitchFamily="18" charset="0"/>
              </a:rPr>
              <a:t> : An Indian digital health and wellness app that provides calorie tracking, personalized diet plans, and integrates with fitness devices. It includes a vast database of Indian foods. </a:t>
            </a:r>
          </a:p>
          <a:p>
            <a:pPr marL="342900" indent="-342900">
              <a:buAutoNum type="arabicPeriod"/>
            </a:pPr>
            <a:endParaRPr lang="en-IN" dirty="0">
              <a:latin typeface="Times New Roman" panose="02020603050405020304" pitchFamily="18" charset="0"/>
              <a:cs typeface="Times New Roman" panose="02020603050405020304" pitchFamily="18" charset="0"/>
            </a:endParaRPr>
          </a:p>
        </p:txBody>
      </p:sp>
      <p:pic>
        <p:nvPicPr>
          <p:cNvPr id="7" name="Picture 6" descr="C:\Documents and Settings\any\Desktop\MCT Logo\RGIT Logo 01 A.jpg">
            <a:extLst>
              <a:ext uri="{FF2B5EF4-FFF2-40B4-BE49-F238E27FC236}">
                <a16:creationId xmlns:a16="http://schemas.microsoft.com/office/drawing/2014/main" id="{373C8799-27ED-FBCA-0109-C31A9AD90B87}"/>
              </a:ext>
            </a:extLst>
          </p:cNvPr>
          <p:cNvPicPr/>
          <p:nvPr/>
        </p:nvPicPr>
        <p:blipFill>
          <a:blip r:embed="rId2" cstate="print"/>
          <a:srcRect/>
          <a:stretch>
            <a:fillRect/>
          </a:stretch>
        </p:blipFill>
        <p:spPr bwMode="auto">
          <a:xfrm>
            <a:off x="3073419" y="152100"/>
            <a:ext cx="6045160" cy="881680"/>
          </a:xfrm>
          <a:prstGeom prst="rect">
            <a:avLst/>
          </a:prstGeom>
          <a:noFill/>
          <a:ln w="9525">
            <a:noFill/>
            <a:miter lim="800000"/>
            <a:headEnd/>
            <a:tailEnd/>
          </a:ln>
        </p:spPr>
      </p:pic>
      <p:sp>
        <p:nvSpPr>
          <p:cNvPr id="9" name="TextBox 8">
            <a:extLst>
              <a:ext uri="{FF2B5EF4-FFF2-40B4-BE49-F238E27FC236}">
                <a16:creationId xmlns:a16="http://schemas.microsoft.com/office/drawing/2014/main" id="{588D4554-49C9-73C2-E2C7-23E848462168}"/>
              </a:ext>
            </a:extLst>
          </p:cNvPr>
          <p:cNvSpPr txBox="1"/>
          <p:nvPr/>
        </p:nvSpPr>
        <p:spPr>
          <a:xfrm>
            <a:off x="2269065" y="1034661"/>
            <a:ext cx="7653867" cy="276999"/>
          </a:xfrm>
          <a:prstGeom prst="rect">
            <a:avLst/>
          </a:prstGeom>
          <a:noFill/>
        </p:spPr>
        <p:txBody>
          <a:bodyPr wrap="square">
            <a:spAutoFit/>
          </a:bodyPr>
          <a:lstStyle/>
          <a:p>
            <a:pPr algn="ctr" fontAlgn="base">
              <a:spcBef>
                <a:spcPct val="0"/>
              </a:spcBef>
              <a:spcAft>
                <a:spcPct val="0"/>
              </a:spcAft>
              <a:defRPr/>
            </a:pPr>
            <a:r>
              <a:rPr lang="en-US" sz="1200" dirty="0">
                <a:latin typeface="Times New Roman" panose="02020603050405020304" pitchFamily="18" charset="0"/>
                <a:cs typeface="Times New Roman" panose="02020603050405020304" pitchFamily="18" charset="0"/>
              </a:rPr>
              <a:t>Department of Artificial Intelligence And Data Science Engineering</a:t>
            </a:r>
            <a:endParaRPr lang="en-US" sz="1200" dirty="0">
              <a:solidFill>
                <a:srgbClr val="000000">
                  <a:lumMod val="75000"/>
                  <a:lumOff val="25000"/>
                </a:srgb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1822835" y="1273940"/>
            <a:ext cx="8546327" cy="584775"/>
          </a:xfrm>
          <a:prstGeom prst="rect">
            <a:avLst/>
          </a:prstGeom>
        </p:spPr>
        <p:txBody>
          <a:bodyPr wrap="square">
            <a:spAutoFit/>
          </a:bodyPr>
          <a:lstStyle/>
          <a:p>
            <a:r>
              <a:rPr lang="en-IN" altLang="en-US" sz="3200" b="1" dirty="0">
                <a:latin typeface="Times New Roman" panose="02020603050405020304" pitchFamily="18" charset="0"/>
                <a:cs typeface="Times New Roman" panose="02020603050405020304" pitchFamily="18" charset="0"/>
              </a:rPr>
              <a:t>PROBLEM STATEMENT AND OBJECTIVES</a:t>
            </a:r>
          </a:p>
        </p:txBody>
      </p:sp>
      <p:sp>
        <p:nvSpPr>
          <p:cNvPr id="5" name="TextBox 4"/>
          <p:cNvSpPr txBox="1"/>
          <p:nvPr/>
        </p:nvSpPr>
        <p:spPr>
          <a:xfrm>
            <a:off x="485280" y="1973852"/>
            <a:ext cx="11424497" cy="4616648"/>
          </a:xfrm>
          <a:prstGeom prst="rect">
            <a:avLst/>
          </a:prstGeom>
          <a:noFill/>
        </p:spPr>
        <p:txBody>
          <a:bodyPr wrap="square">
            <a:spAutoFit/>
          </a:bodyPr>
          <a:lstStyle/>
          <a:p>
            <a:r>
              <a:rPr lang="en-US" altLang="en-US" sz="2100" dirty="0">
                <a:latin typeface="Times New Roman" panose="02020603050405020304" pitchFamily="18" charset="0"/>
                <a:cs typeface="Times New Roman" panose="02020603050405020304" pitchFamily="18" charset="0"/>
              </a:rPr>
              <a:t>Problem Statement </a:t>
            </a:r>
          </a:p>
          <a:p>
            <a:endParaRPr lang="en-US" altLang="en-US" sz="2100" dirty="0">
              <a:latin typeface="Times New Roman" panose="02020603050405020304" pitchFamily="18" charset="0"/>
              <a:cs typeface="Times New Roman" panose="02020603050405020304" pitchFamily="18" charset="0"/>
            </a:endParaRPr>
          </a:p>
          <a:p>
            <a:r>
              <a:rPr lang="en-US" altLang="en-US" sz="2100" dirty="0">
                <a:latin typeface="Times New Roman" panose="02020603050405020304" pitchFamily="18" charset="0"/>
                <a:cs typeface="Times New Roman" panose="02020603050405020304" pitchFamily="18" charset="0"/>
              </a:rPr>
              <a:t>Managing daily calorie intake can be challenging due to a lack of accurate nutritional information, making it difficult for individuals to maintain a balanced diet. Many existing solutions are complex, requiring manual calculations or unreliable data sources, leading to poor dietary decisions and inconsistent health tracking.  </a:t>
            </a:r>
          </a:p>
          <a:p>
            <a:endParaRPr lang="en-US" altLang="en-US" sz="2100" dirty="0">
              <a:latin typeface="Times New Roman" panose="02020603050405020304" pitchFamily="18" charset="0"/>
              <a:cs typeface="Times New Roman" panose="02020603050405020304" pitchFamily="18" charset="0"/>
            </a:endParaRPr>
          </a:p>
          <a:p>
            <a:r>
              <a:rPr lang="en-US" altLang="en-US" sz="2100" dirty="0">
                <a:latin typeface="Times New Roman" panose="02020603050405020304" pitchFamily="18" charset="0"/>
                <a:cs typeface="Times New Roman" panose="02020603050405020304" pitchFamily="18" charset="0"/>
              </a:rPr>
              <a:t>Objective</a:t>
            </a:r>
          </a:p>
          <a:p>
            <a:endParaRPr lang="en-US" altLang="en-US" sz="21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2100" dirty="0">
                <a:latin typeface="Times New Roman" panose="02020603050405020304" pitchFamily="18" charset="0"/>
                <a:cs typeface="Times New Roman" panose="02020603050405020304" pitchFamily="18" charset="0"/>
              </a:rPr>
              <a:t>Provide accurate and reliable nutritional data.  </a:t>
            </a:r>
          </a:p>
          <a:p>
            <a:pPr marL="285750" indent="-285750">
              <a:buFont typeface="Arial" panose="020B0604020202020204" pitchFamily="34" charset="0"/>
              <a:buChar char="•"/>
            </a:pPr>
            <a:r>
              <a:rPr lang="en-US" altLang="en-US" sz="2100" dirty="0">
                <a:latin typeface="Times New Roman" panose="02020603050405020304" pitchFamily="18" charset="0"/>
                <a:cs typeface="Times New Roman" panose="02020603050405020304" pitchFamily="18" charset="0"/>
                <a:sym typeface="+mn-ea"/>
              </a:rPr>
              <a:t>Simplify calorie tracking for better diet management.  </a:t>
            </a:r>
          </a:p>
          <a:p>
            <a:pPr marL="285750" indent="-285750">
              <a:buFont typeface="Arial" panose="020B0604020202020204" pitchFamily="34" charset="0"/>
              <a:buChar char="•"/>
            </a:pPr>
            <a:r>
              <a:rPr lang="en-US" altLang="en-US" sz="2100" dirty="0">
                <a:latin typeface="Times New Roman" panose="02020603050405020304" pitchFamily="18" charset="0"/>
                <a:cs typeface="Times New Roman" panose="02020603050405020304" pitchFamily="18" charset="0"/>
                <a:sym typeface="+mn-ea"/>
              </a:rPr>
              <a:t>Enhance user experience with an easy-to-use interface.  </a:t>
            </a:r>
          </a:p>
          <a:p>
            <a:pPr marL="285750" indent="-285750">
              <a:buFont typeface="Arial" panose="020B0604020202020204" pitchFamily="34" charset="0"/>
              <a:buChar char="•"/>
            </a:pPr>
            <a:r>
              <a:rPr lang="en-US" altLang="en-US" sz="2100" dirty="0">
                <a:latin typeface="Times New Roman" panose="02020603050405020304" pitchFamily="18" charset="0"/>
                <a:cs typeface="Times New Roman" panose="02020603050405020304" pitchFamily="18" charset="0"/>
                <a:sym typeface="+mn-ea"/>
              </a:rPr>
              <a:t>Improve accessibility to essential food information.</a:t>
            </a:r>
            <a:endParaRPr lang="en-US" altLang="en-US" sz="21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2100" dirty="0">
              <a:latin typeface="Times New Roman" panose="02020603050405020304" pitchFamily="18" charset="0"/>
              <a:cs typeface="Times New Roman" panose="02020603050405020304" pitchFamily="18" charset="0"/>
            </a:endParaRPr>
          </a:p>
        </p:txBody>
      </p:sp>
      <p:pic>
        <p:nvPicPr>
          <p:cNvPr id="2" name="Picture 1" descr="C:\Documents and Settings\any\Desktop\MCT Logo\RGIT Logo 01 A.jpg">
            <a:extLst>
              <a:ext uri="{FF2B5EF4-FFF2-40B4-BE49-F238E27FC236}">
                <a16:creationId xmlns:a16="http://schemas.microsoft.com/office/drawing/2014/main" id="{9EB0960D-A191-1008-A09D-883560D99AE4}"/>
              </a:ext>
            </a:extLst>
          </p:cNvPr>
          <p:cNvPicPr/>
          <p:nvPr/>
        </p:nvPicPr>
        <p:blipFill>
          <a:blip r:embed="rId2" cstate="print"/>
          <a:srcRect/>
          <a:stretch>
            <a:fillRect/>
          </a:stretch>
        </p:blipFill>
        <p:spPr bwMode="auto">
          <a:xfrm>
            <a:off x="3073419" y="152100"/>
            <a:ext cx="6045160" cy="881680"/>
          </a:xfrm>
          <a:prstGeom prst="rect">
            <a:avLst/>
          </a:prstGeom>
          <a:noFill/>
          <a:ln w="9525">
            <a:noFill/>
            <a:miter lim="800000"/>
            <a:headEnd/>
            <a:tailEnd/>
          </a:ln>
        </p:spPr>
      </p:pic>
      <p:sp>
        <p:nvSpPr>
          <p:cNvPr id="4" name="TextBox 3">
            <a:extLst>
              <a:ext uri="{FF2B5EF4-FFF2-40B4-BE49-F238E27FC236}">
                <a16:creationId xmlns:a16="http://schemas.microsoft.com/office/drawing/2014/main" id="{79C42FA3-7D87-EE5E-721B-63E2D2944B06}"/>
              </a:ext>
            </a:extLst>
          </p:cNvPr>
          <p:cNvSpPr txBox="1"/>
          <p:nvPr/>
        </p:nvSpPr>
        <p:spPr>
          <a:xfrm>
            <a:off x="1350273" y="996941"/>
            <a:ext cx="9491452" cy="276999"/>
          </a:xfrm>
          <a:prstGeom prst="rect">
            <a:avLst/>
          </a:prstGeom>
          <a:noFill/>
        </p:spPr>
        <p:txBody>
          <a:bodyPr wrap="square">
            <a:spAutoFit/>
          </a:bodyPr>
          <a:lstStyle/>
          <a:p>
            <a:pPr algn="ctr" fontAlgn="base">
              <a:spcBef>
                <a:spcPct val="0"/>
              </a:spcBef>
              <a:spcAft>
                <a:spcPct val="0"/>
              </a:spcAft>
              <a:defRPr/>
            </a:pPr>
            <a:r>
              <a:rPr lang="en-US" sz="1200" dirty="0">
                <a:latin typeface="Times New Roman" panose="02020603050405020304" pitchFamily="18" charset="0"/>
                <a:cs typeface="Times New Roman" panose="02020603050405020304" pitchFamily="18" charset="0"/>
              </a:rPr>
              <a:t>Department of Artificial Intelligence And Data Science Engineering</a:t>
            </a:r>
            <a:endParaRPr lang="en-US" sz="1200" dirty="0">
              <a:solidFill>
                <a:srgbClr val="000000">
                  <a:lumMod val="75000"/>
                  <a:lumOff val="25000"/>
                </a:srgb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34443" y="1222905"/>
            <a:ext cx="8523111" cy="638704"/>
          </a:xfrm>
        </p:spPr>
        <p:txBody>
          <a:bodyPr>
            <a:normAutofit fontScale="90000"/>
          </a:bodyPr>
          <a:lstStyle/>
          <a:p>
            <a:r>
              <a:rPr lang="en-US" sz="3600" b="1" dirty="0">
                <a:latin typeface="Times New Roman" panose="02020603050405020304" pitchFamily="18" charset="0"/>
                <a:cs typeface="Times New Roman" panose="02020603050405020304" pitchFamily="18" charset="0"/>
              </a:rPr>
              <a:t>PROPOSED SYSTEM</a:t>
            </a:r>
            <a:endParaRPr lang="en-IN" sz="3600" b="1" dirty="0">
              <a:latin typeface="Times New Roman" panose="02020603050405020304" pitchFamily="18" charset="0"/>
              <a:cs typeface="Times New Roman" panose="02020603050405020304" pitchFamily="18" charset="0"/>
            </a:endParaRPr>
          </a:p>
        </p:txBody>
      </p:sp>
      <p:sp>
        <p:nvSpPr>
          <p:cNvPr id="3" name="Text Box 2"/>
          <p:cNvSpPr txBox="1"/>
          <p:nvPr/>
        </p:nvSpPr>
        <p:spPr>
          <a:xfrm>
            <a:off x="552767" y="2043714"/>
            <a:ext cx="11086465" cy="4708981"/>
          </a:xfrm>
          <a:prstGeom prst="rect">
            <a:avLst/>
          </a:prstGeom>
          <a:noFill/>
        </p:spPr>
        <p:txBody>
          <a:bodyPr wrap="square" rtlCol="0" anchor="t">
            <a:spAutoFit/>
          </a:bodyPr>
          <a:lstStyle/>
          <a:p>
            <a:r>
              <a:rPr lang="en-US" altLang="en-US" sz="2000" dirty="0">
                <a:latin typeface="Times New Roman" panose="02020603050405020304" pitchFamily="18" charset="0"/>
                <a:cs typeface="Times New Roman" panose="02020603050405020304" pitchFamily="18" charset="0"/>
              </a:rPr>
              <a:t>The Calories </a:t>
            </a:r>
            <a:r>
              <a:rPr lang="en-US" altLang="en-US" sz="2000" dirty="0" err="1">
                <a:latin typeface="Times New Roman" panose="02020603050405020304" pitchFamily="18" charset="0"/>
                <a:cs typeface="Times New Roman" panose="02020603050405020304" pitchFamily="18" charset="0"/>
              </a:rPr>
              <a:t>CountFinder</a:t>
            </a:r>
            <a:r>
              <a:rPr lang="en-US" altLang="en-US" sz="2000" dirty="0">
                <a:latin typeface="Times New Roman" panose="02020603050405020304" pitchFamily="18" charset="0"/>
                <a:cs typeface="Times New Roman" panose="02020603050405020304" pitchFamily="18" charset="0"/>
              </a:rPr>
              <a:t> integrates key components (Home, Search, Food Database, About, Contact) with user authentication, advanced nutritional tracking, and a meal planner to help users make healthier dietary choices, improving efficiency and user experience.  </a:t>
            </a:r>
          </a:p>
          <a:p>
            <a:endParaRPr lang="en-US" altLang="en-US" sz="2000" dirty="0">
              <a:latin typeface="Times New Roman" panose="02020603050405020304" pitchFamily="18" charset="0"/>
              <a:cs typeface="Times New Roman" panose="02020603050405020304" pitchFamily="18" charset="0"/>
            </a:endParaRPr>
          </a:p>
          <a:p>
            <a:r>
              <a:rPr lang="en-US" altLang="en-US" sz="2000" dirty="0">
                <a:latin typeface="Times New Roman" panose="02020603050405020304" pitchFamily="18" charset="0"/>
                <a:cs typeface="Times New Roman" panose="02020603050405020304" pitchFamily="18" charset="0"/>
              </a:rPr>
              <a:t>Key Points :</a:t>
            </a:r>
          </a:p>
          <a:p>
            <a:endParaRPr lang="en-US" altLang="en-US" sz="2000" dirty="0">
              <a:latin typeface="Times New Roman" panose="02020603050405020304" pitchFamily="18" charset="0"/>
              <a:cs typeface="Times New Roman" panose="02020603050405020304" pitchFamily="18" charset="0"/>
            </a:endParaRPr>
          </a:p>
          <a:p>
            <a:pPr marL="285750" indent="-285750">
              <a:buFont typeface="Wingdings" panose="05000000000000000000" charset="0"/>
              <a:buChar char="§"/>
            </a:pPr>
            <a:r>
              <a:rPr lang="en-US" altLang="en-US" sz="2000" dirty="0">
                <a:latin typeface="Times New Roman" panose="02020603050405020304" pitchFamily="18" charset="0"/>
                <a:cs typeface="Times New Roman" panose="02020603050405020304" pitchFamily="18" charset="0"/>
                <a:sym typeface="+mn-ea"/>
              </a:rPr>
              <a:t>Components :-</a:t>
            </a:r>
          </a:p>
          <a:p>
            <a:pPr indent="0">
              <a:buFont typeface="Wingdings" panose="05000000000000000000" charset="0"/>
              <a:buNone/>
            </a:pPr>
            <a:r>
              <a:rPr lang="en-US" altLang="en-US" sz="2000" dirty="0">
                <a:latin typeface="Times New Roman" panose="02020603050405020304" pitchFamily="18" charset="0"/>
                <a:cs typeface="Times New Roman" panose="02020603050405020304" pitchFamily="18" charset="0"/>
                <a:sym typeface="+mn-ea"/>
              </a:rPr>
              <a:t>     Home, Search, Food Database, </a:t>
            </a:r>
            <a:r>
              <a:rPr lang="en-US" altLang="en-US" sz="2000" dirty="0" err="1">
                <a:latin typeface="Times New Roman" panose="02020603050405020304" pitchFamily="18" charset="0"/>
                <a:cs typeface="Times New Roman" panose="02020603050405020304" pitchFamily="18" charset="0"/>
                <a:sym typeface="+mn-ea"/>
              </a:rPr>
              <a:t>About,Contact</a:t>
            </a:r>
            <a:endParaRPr lang="en-US" altLang="en-US" sz="2000" dirty="0">
              <a:latin typeface="Times New Roman" panose="02020603050405020304" pitchFamily="18" charset="0"/>
              <a:cs typeface="Times New Roman" panose="02020603050405020304" pitchFamily="18" charset="0"/>
              <a:sym typeface="+mn-ea"/>
            </a:endParaRPr>
          </a:p>
          <a:p>
            <a:pPr marL="285750" indent="-285750">
              <a:buFont typeface="Wingdings" panose="05000000000000000000" charset="0"/>
              <a:buChar char="§"/>
            </a:pPr>
            <a:r>
              <a:rPr lang="en-US" altLang="en-US" sz="2000" dirty="0">
                <a:latin typeface="Times New Roman" panose="02020603050405020304" pitchFamily="18" charset="0"/>
                <a:cs typeface="Times New Roman" panose="02020603050405020304" pitchFamily="18" charset="0"/>
                <a:sym typeface="+mn-ea"/>
              </a:rPr>
              <a:t>User Access :- </a:t>
            </a:r>
          </a:p>
          <a:p>
            <a:pPr indent="0">
              <a:buFont typeface="Wingdings" panose="05000000000000000000" charset="0"/>
              <a:buNone/>
            </a:pPr>
            <a:r>
              <a:rPr lang="en-US" altLang="en-US" sz="2000" dirty="0">
                <a:latin typeface="Times New Roman" panose="02020603050405020304" pitchFamily="18" charset="0"/>
                <a:cs typeface="Times New Roman" panose="02020603050405020304" pitchFamily="18" charset="0"/>
                <a:sym typeface="+mn-ea"/>
              </a:rPr>
              <a:t>     Signup/Login/Guest with database storage </a:t>
            </a:r>
          </a:p>
          <a:p>
            <a:pPr marL="285750" indent="-285750">
              <a:buFont typeface="Wingdings" panose="05000000000000000000" charset="0"/>
              <a:buChar char="§"/>
            </a:pPr>
            <a:r>
              <a:rPr lang="en-US" altLang="en-US" sz="2000" dirty="0">
                <a:latin typeface="Times New Roman" panose="02020603050405020304" pitchFamily="18" charset="0"/>
                <a:cs typeface="Times New Roman" panose="02020603050405020304" pitchFamily="18" charset="0"/>
                <a:sym typeface="+mn-ea"/>
              </a:rPr>
              <a:t>Subcomponents :-</a:t>
            </a:r>
          </a:p>
          <a:p>
            <a:pPr indent="0">
              <a:buFont typeface="Wingdings" panose="05000000000000000000" charset="0"/>
              <a:buNone/>
            </a:pPr>
            <a:r>
              <a:rPr lang="en-US" altLang="en-US" sz="2000" dirty="0">
                <a:latin typeface="Times New Roman" panose="02020603050405020304" pitchFamily="18" charset="0"/>
                <a:cs typeface="Times New Roman" panose="02020603050405020304" pitchFamily="18" charset="0"/>
                <a:sym typeface="+mn-ea"/>
              </a:rPr>
              <a:t>     Dietary preferences &amp; Nutritional values</a:t>
            </a:r>
          </a:p>
          <a:p>
            <a:pPr marL="285750" indent="-285750">
              <a:buFont typeface="Wingdings" panose="05000000000000000000" charset="0"/>
              <a:buChar char="§"/>
            </a:pPr>
            <a:r>
              <a:rPr lang="en-US" altLang="en-US" sz="2000" dirty="0">
                <a:latin typeface="Times New Roman" panose="02020603050405020304" pitchFamily="18" charset="0"/>
                <a:cs typeface="Times New Roman" panose="02020603050405020304" pitchFamily="18" charset="0"/>
                <a:sym typeface="+mn-ea"/>
              </a:rPr>
              <a:t>Benefits :-</a:t>
            </a:r>
          </a:p>
          <a:p>
            <a:pPr indent="0">
              <a:buFont typeface="Wingdings" panose="05000000000000000000" charset="0"/>
              <a:buNone/>
            </a:pPr>
            <a:r>
              <a:rPr lang="en-US" altLang="en-US" sz="2000" dirty="0">
                <a:latin typeface="Times New Roman" panose="02020603050405020304" pitchFamily="18" charset="0"/>
                <a:cs typeface="Times New Roman" panose="02020603050405020304" pitchFamily="18" charset="0"/>
                <a:sym typeface="+mn-ea"/>
              </a:rPr>
              <a:t>    Time-saving, health-focused, user-friendly, and performance-optimized</a:t>
            </a:r>
            <a:endParaRPr lang="en-US" sz="2000" dirty="0">
              <a:latin typeface="Times New Roman" panose="02020603050405020304" pitchFamily="18" charset="0"/>
              <a:cs typeface="Times New Roman" panose="02020603050405020304" pitchFamily="18" charset="0"/>
            </a:endParaRPr>
          </a:p>
          <a:p>
            <a:pPr indent="0">
              <a:buFont typeface="Wingdings" panose="05000000000000000000" charset="0"/>
              <a:buNone/>
            </a:pPr>
            <a:endParaRPr lang="en-US" sz="2000" dirty="0">
              <a:latin typeface="Times New Roman" panose="02020603050405020304" pitchFamily="18" charset="0"/>
              <a:cs typeface="Times New Roman" panose="02020603050405020304" pitchFamily="18" charset="0"/>
            </a:endParaRPr>
          </a:p>
        </p:txBody>
      </p:sp>
      <p:pic>
        <p:nvPicPr>
          <p:cNvPr id="4" name="Picture 3" descr="C:\Documents and Settings\any\Desktop\MCT Logo\RGIT Logo 01 A.jpg">
            <a:extLst>
              <a:ext uri="{FF2B5EF4-FFF2-40B4-BE49-F238E27FC236}">
                <a16:creationId xmlns:a16="http://schemas.microsoft.com/office/drawing/2014/main" id="{66850662-CB2E-20A7-8B5F-272E9A6268D2}"/>
              </a:ext>
            </a:extLst>
          </p:cNvPr>
          <p:cNvPicPr/>
          <p:nvPr/>
        </p:nvPicPr>
        <p:blipFill>
          <a:blip r:embed="rId2" cstate="print"/>
          <a:srcRect/>
          <a:stretch>
            <a:fillRect/>
          </a:stretch>
        </p:blipFill>
        <p:spPr bwMode="auto">
          <a:xfrm>
            <a:off x="3073419" y="152100"/>
            <a:ext cx="6045160" cy="881680"/>
          </a:xfrm>
          <a:prstGeom prst="rect">
            <a:avLst/>
          </a:prstGeom>
          <a:noFill/>
          <a:ln w="9525">
            <a:noFill/>
            <a:miter lim="800000"/>
            <a:headEnd/>
            <a:tailEnd/>
          </a:ln>
        </p:spPr>
      </p:pic>
      <p:sp>
        <p:nvSpPr>
          <p:cNvPr id="6" name="TextBox 5">
            <a:extLst>
              <a:ext uri="{FF2B5EF4-FFF2-40B4-BE49-F238E27FC236}">
                <a16:creationId xmlns:a16="http://schemas.microsoft.com/office/drawing/2014/main" id="{70203877-B142-4FEA-083D-A04E347CD94B}"/>
              </a:ext>
            </a:extLst>
          </p:cNvPr>
          <p:cNvSpPr txBox="1"/>
          <p:nvPr/>
        </p:nvSpPr>
        <p:spPr>
          <a:xfrm>
            <a:off x="1986842" y="989843"/>
            <a:ext cx="8218311" cy="276999"/>
          </a:xfrm>
          <a:prstGeom prst="rect">
            <a:avLst/>
          </a:prstGeom>
          <a:noFill/>
        </p:spPr>
        <p:txBody>
          <a:bodyPr wrap="square">
            <a:spAutoFit/>
          </a:bodyPr>
          <a:lstStyle/>
          <a:p>
            <a:pPr algn="ctr" fontAlgn="base">
              <a:spcBef>
                <a:spcPct val="0"/>
              </a:spcBef>
              <a:spcAft>
                <a:spcPct val="0"/>
              </a:spcAft>
              <a:defRPr/>
            </a:pPr>
            <a:r>
              <a:rPr lang="en-US" sz="1200" dirty="0">
                <a:latin typeface="Times New Roman" panose="02020603050405020304" pitchFamily="18" charset="0"/>
                <a:cs typeface="Times New Roman" panose="02020603050405020304" pitchFamily="18" charset="0"/>
              </a:rPr>
              <a:t>Department of Artificial Intelligence And Data Science Engineering</a:t>
            </a:r>
            <a:endParaRPr lang="en-US" sz="1200" dirty="0">
              <a:solidFill>
                <a:srgbClr val="000000">
                  <a:lumMod val="75000"/>
                  <a:lumOff val="25000"/>
                </a:srgb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35153" y="1322210"/>
            <a:ext cx="5268080" cy="529220"/>
          </a:xfrm>
        </p:spPr>
        <p:txBody>
          <a:bodyPr>
            <a:normAutofit fontScale="90000"/>
          </a:bodyPr>
          <a:lstStyle/>
          <a:p>
            <a:pPr algn="l"/>
            <a:r>
              <a:rPr lang="en-US" sz="3200" b="1" dirty="0">
                <a:latin typeface="Times New Roman" panose="02020603050405020304" pitchFamily="18" charset="0"/>
                <a:cs typeface="Times New Roman" panose="02020603050405020304" pitchFamily="18" charset="0"/>
              </a:rPr>
              <a:t>SYSTEM ARCHITECTURE</a:t>
            </a:r>
          </a:p>
        </p:txBody>
      </p:sp>
      <p:sp>
        <p:nvSpPr>
          <p:cNvPr id="4" name="Rectangle: Rounded Corners 3">
            <a:extLst>
              <a:ext uri="{FF2B5EF4-FFF2-40B4-BE49-F238E27FC236}">
                <a16:creationId xmlns:a16="http://schemas.microsoft.com/office/drawing/2014/main" id="{8726B436-BD96-C6B2-BAE6-F4BA113F3C1F}"/>
              </a:ext>
            </a:extLst>
          </p:cNvPr>
          <p:cNvSpPr/>
          <p:nvPr/>
        </p:nvSpPr>
        <p:spPr>
          <a:xfrm>
            <a:off x="1061595" y="1457722"/>
            <a:ext cx="1038412" cy="39739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t>START</a:t>
            </a:r>
            <a:endParaRPr lang="en-IN" sz="1500" dirty="0"/>
          </a:p>
        </p:txBody>
      </p:sp>
      <p:sp>
        <p:nvSpPr>
          <p:cNvPr id="11" name="Rectangle: Rounded Corners 10">
            <a:extLst>
              <a:ext uri="{FF2B5EF4-FFF2-40B4-BE49-F238E27FC236}">
                <a16:creationId xmlns:a16="http://schemas.microsoft.com/office/drawing/2014/main" id="{4E36438F-7D93-80C3-EB71-A3873F0D80FE}"/>
              </a:ext>
            </a:extLst>
          </p:cNvPr>
          <p:cNvSpPr/>
          <p:nvPr/>
        </p:nvSpPr>
        <p:spPr>
          <a:xfrm>
            <a:off x="380926" y="2296421"/>
            <a:ext cx="2399756" cy="83036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t>USER INPUT</a:t>
            </a:r>
          </a:p>
          <a:p>
            <a:pPr algn="ctr"/>
            <a:r>
              <a:rPr lang="en-US" sz="1500" dirty="0"/>
              <a:t>AGE,HEIGHT,WEIGHT</a:t>
            </a:r>
          </a:p>
        </p:txBody>
      </p:sp>
      <p:pic>
        <p:nvPicPr>
          <p:cNvPr id="273" name="Picture 272" descr="C:\Documents and Settings\any\Desktop\MCT Logo\RGIT Logo 01 A.jpg">
            <a:extLst>
              <a:ext uri="{FF2B5EF4-FFF2-40B4-BE49-F238E27FC236}">
                <a16:creationId xmlns:a16="http://schemas.microsoft.com/office/drawing/2014/main" id="{62950181-54F6-E2B5-5B48-833D4287C196}"/>
              </a:ext>
            </a:extLst>
          </p:cNvPr>
          <p:cNvPicPr/>
          <p:nvPr/>
        </p:nvPicPr>
        <p:blipFill>
          <a:blip r:embed="rId2" cstate="print"/>
          <a:srcRect/>
          <a:stretch>
            <a:fillRect/>
          </a:stretch>
        </p:blipFill>
        <p:spPr bwMode="auto">
          <a:xfrm>
            <a:off x="3073419" y="152100"/>
            <a:ext cx="6045160" cy="881680"/>
          </a:xfrm>
          <a:prstGeom prst="rect">
            <a:avLst/>
          </a:prstGeom>
          <a:noFill/>
          <a:ln w="9525">
            <a:noFill/>
            <a:miter lim="800000"/>
            <a:headEnd/>
            <a:tailEnd/>
          </a:ln>
        </p:spPr>
      </p:pic>
      <p:sp>
        <p:nvSpPr>
          <p:cNvPr id="275" name="TextBox 274">
            <a:extLst>
              <a:ext uri="{FF2B5EF4-FFF2-40B4-BE49-F238E27FC236}">
                <a16:creationId xmlns:a16="http://schemas.microsoft.com/office/drawing/2014/main" id="{0A7BFC3A-4416-5438-9737-502B86ACE03F}"/>
              </a:ext>
            </a:extLst>
          </p:cNvPr>
          <p:cNvSpPr txBox="1"/>
          <p:nvPr/>
        </p:nvSpPr>
        <p:spPr>
          <a:xfrm>
            <a:off x="2305067" y="1010777"/>
            <a:ext cx="7416800" cy="276999"/>
          </a:xfrm>
          <a:prstGeom prst="rect">
            <a:avLst/>
          </a:prstGeom>
          <a:noFill/>
        </p:spPr>
        <p:txBody>
          <a:bodyPr wrap="square">
            <a:spAutoFit/>
          </a:bodyPr>
          <a:lstStyle/>
          <a:p>
            <a:pPr algn="ctr" fontAlgn="base">
              <a:spcBef>
                <a:spcPct val="0"/>
              </a:spcBef>
              <a:spcAft>
                <a:spcPct val="0"/>
              </a:spcAft>
              <a:defRPr/>
            </a:pPr>
            <a:r>
              <a:rPr lang="en-US" sz="1200" dirty="0">
                <a:latin typeface="Times New Roman" panose="02020603050405020304" pitchFamily="18" charset="0"/>
                <a:cs typeface="Times New Roman" panose="02020603050405020304" pitchFamily="18" charset="0"/>
              </a:rPr>
              <a:t>Department of Artificial Intelligence And Data Science Engineering</a:t>
            </a:r>
            <a:endParaRPr lang="en-US" sz="1200" dirty="0">
              <a:solidFill>
                <a:srgbClr val="000000">
                  <a:lumMod val="75000"/>
                  <a:lumOff val="25000"/>
                </a:srgbClr>
              </a:solidFill>
              <a:latin typeface="Times New Roman" panose="02020603050405020304" pitchFamily="18" charset="0"/>
              <a:cs typeface="Times New Roman" panose="02020603050405020304" pitchFamily="18" charset="0"/>
            </a:endParaRPr>
          </a:p>
        </p:txBody>
      </p:sp>
      <p:sp>
        <p:nvSpPr>
          <p:cNvPr id="27" name="Rectangle: Rounded Corners 26">
            <a:extLst>
              <a:ext uri="{FF2B5EF4-FFF2-40B4-BE49-F238E27FC236}">
                <a16:creationId xmlns:a16="http://schemas.microsoft.com/office/drawing/2014/main" id="{47B4E4CA-845F-43A7-AD6C-3A187BCEC2AE}"/>
              </a:ext>
            </a:extLst>
          </p:cNvPr>
          <p:cNvSpPr/>
          <p:nvPr/>
        </p:nvSpPr>
        <p:spPr>
          <a:xfrm>
            <a:off x="421068" y="3785789"/>
            <a:ext cx="2359614" cy="5292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t>USER INPUT FOOD INTAKE</a:t>
            </a:r>
            <a:endParaRPr lang="en-IN" sz="1500" dirty="0"/>
          </a:p>
        </p:txBody>
      </p:sp>
      <p:sp>
        <p:nvSpPr>
          <p:cNvPr id="29" name="Rectangle: Rounded Corners 28">
            <a:extLst>
              <a:ext uri="{FF2B5EF4-FFF2-40B4-BE49-F238E27FC236}">
                <a16:creationId xmlns:a16="http://schemas.microsoft.com/office/drawing/2014/main" id="{6AD5DB84-02B8-4C46-B9C0-6C1D4E2B87D6}"/>
              </a:ext>
            </a:extLst>
          </p:cNvPr>
          <p:cNvSpPr/>
          <p:nvPr/>
        </p:nvSpPr>
        <p:spPr>
          <a:xfrm>
            <a:off x="3423169" y="3409819"/>
            <a:ext cx="1946823" cy="128015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t>CONSUMED CALORIE </a:t>
            </a:r>
            <a:endParaRPr lang="en-IN" sz="1500" dirty="0"/>
          </a:p>
        </p:txBody>
      </p:sp>
      <p:cxnSp>
        <p:nvCxnSpPr>
          <p:cNvPr id="7" name="Straight Arrow Connector 6">
            <a:extLst>
              <a:ext uri="{FF2B5EF4-FFF2-40B4-BE49-F238E27FC236}">
                <a16:creationId xmlns:a16="http://schemas.microsoft.com/office/drawing/2014/main" id="{236DCD02-C805-4BF1-AAE2-F498B3A3D4E6}"/>
              </a:ext>
            </a:extLst>
          </p:cNvPr>
          <p:cNvCxnSpPr>
            <a:cxnSpLocks/>
            <a:stCxn id="4" idx="2"/>
            <a:endCxn id="11" idx="0"/>
          </p:cNvCxnSpPr>
          <p:nvPr/>
        </p:nvCxnSpPr>
        <p:spPr>
          <a:xfrm>
            <a:off x="1580801" y="1855116"/>
            <a:ext cx="3" cy="44130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61020E92-3090-4BA1-ACFC-3E816BB69455}"/>
              </a:ext>
            </a:extLst>
          </p:cNvPr>
          <p:cNvCxnSpPr>
            <a:cxnSpLocks/>
            <a:stCxn id="11" idx="2"/>
            <a:endCxn id="27" idx="0"/>
          </p:cNvCxnSpPr>
          <p:nvPr/>
        </p:nvCxnSpPr>
        <p:spPr>
          <a:xfrm>
            <a:off x="1580804" y="3126789"/>
            <a:ext cx="20071" cy="6590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9C1B3DC5-D189-486E-9483-600529220A94}"/>
              </a:ext>
            </a:extLst>
          </p:cNvPr>
          <p:cNvCxnSpPr>
            <a:cxnSpLocks/>
            <a:stCxn id="27" idx="2"/>
          </p:cNvCxnSpPr>
          <p:nvPr/>
        </p:nvCxnSpPr>
        <p:spPr>
          <a:xfrm>
            <a:off x="1600875" y="4315009"/>
            <a:ext cx="0" cy="138361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1" name="Straight Arrow Connector 40">
            <a:extLst>
              <a:ext uri="{FF2B5EF4-FFF2-40B4-BE49-F238E27FC236}">
                <a16:creationId xmlns:a16="http://schemas.microsoft.com/office/drawing/2014/main" id="{EAEF9FCB-8838-434D-ACC7-9A9AF5C90AF4}"/>
              </a:ext>
            </a:extLst>
          </p:cNvPr>
          <p:cNvCxnSpPr>
            <a:cxnSpLocks/>
            <a:stCxn id="27" idx="3"/>
            <a:endCxn id="29" idx="1"/>
          </p:cNvCxnSpPr>
          <p:nvPr/>
        </p:nvCxnSpPr>
        <p:spPr>
          <a:xfrm flipV="1">
            <a:off x="2780682" y="4049899"/>
            <a:ext cx="642487" cy="5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3" name="Straight Arrow Connector 62">
            <a:extLst>
              <a:ext uri="{FF2B5EF4-FFF2-40B4-BE49-F238E27FC236}">
                <a16:creationId xmlns:a16="http://schemas.microsoft.com/office/drawing/2014/main" id="{ED6DE010-79D3-44AD-B6BC-B3640E94623F}"/>
              </a:ext>
            </a:extLst>
          </p:cNvPr>
          <p:cNvCxnSpPr>
            <a:cxnSpLocks/>
            <a:endCxn id="50" idx="1"/>
          </p:cNvCxnSpPr>
          <p:nvPr/>
        </p:nvCxnSpPr>
        <p:spPr>
          <a:xfrm>
            <a:off x="1580801" y="5698622"/>
            <a:ext cx="410113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0" name="Flowchart: Decision 49">
            <a:extLst>
              <a:ext uri="{FF2B5EF4-FFF2-40B4-BE49-F238E27FC236}">
                <a16:creationId xmlns:a16="http://schemas.microsoft.com/office/drawing/2014/main" id="{6218F762-D79A-4178-A438-39CFBF85BBA4}"/>
              </a:ext>
            </a:extLst>
          </p:cNvPr>
          <p:cNvSpPr/>
          <p:nvPr/>
        </p:nvSpPr>
        <p:spPr>
          <a:xfrm>
            <a:off x="5681938" y="4789489"/>
            <a:ext cx="2767022" cy="1818266"/>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t> CONSUMED CALORIE </a:t>
            </a:r>
          </a:p>
          <a:p>
            <a:pPr algn="ctr"/>
            <a:r>
              <a:rPr lang="en-US" sz="1500" dirty="0"/>
              <a:t>Or</a:t>
            </a:r>
          </a:p>
          <a:p>
            <a:pPr algn="ctr"/>
            <a:r>
              <a:rPr lang="en-US" sz="1500" dirty="0"/>
              <a:t>REQUIRED CALORIE</a:t>
            </a:r>
            <a:endParaRPr lang="en-IN" sz="1500" dirty="0"/>
          </a:p>
        </p:txBody>
      </p:sp>
      <p:cxnSp>
        <p:nvCxnSpPr>
          <p:cNvPr id="52" name="Connector: Elbow 51">
            <a:extLst>
              <a:ext uri="{FF2B5EF4-FFF2-40B4-BE49-F238E27FC236}">
                <a16:creationId xmlns:a16="http://schemas.microsoft.com/office/drawing/2014/main" id="{3B8D14A3-5389-41A4-94BF-5BB679DA76AC}"/>
              </a:ext>
            </a:extLst>
          </p:cNvPr>
          <p:cNvCxnSpPr>
            <a:cxnSpLocks/>
            <a:stCxn id="50" idx="0"/>
            <a:endCxn id="81" idx="1"/>
          </p:cNvCxnSpPr>
          <p:nvPr/>
        </p:nvCxnSpPr>
        <p:spPr>
          <a:xfrm rot="5400000" flipH="1" flipV="1">
            <a:off x="7086654" y="3384318"/>
            <a:ext cx="1383966" cy="1426377"/>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76" name="Connector: Elbow 75">
            <a:extLst>
              <a:ext uri="{FF2B5EF4-FFF2-40B4-BE49-F238E27FC236}">
                <a16:creationId xmlns:a16="http://schemas.microsoft.com/office/drawing/2014/main" id="{306485EA-AA21-4281-9735-A788BFB585D9}"/>
              </a:ext>
            </a:extLst>
          </p:cNvPr>
          <p:cNvCxnSpPr>
            <a:cxnSpLocks/>
            <a:stCxn id="50" idx="3"/>
            <a:endCxn id="83" idx="2"/>
          </p:cNvCxnSpPr>
          <p:nvPr/>
        </p:nvCxnSpPr>
        <p:spPr>
          <a:xfrm flipV="1">
            <a:off x="8448960" y="5024525"/>
            <a:ext cx="914972" cy="674097"/>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81" name="Rectangle: Rounded Corners 80">
            <a:extLst>
              <a:ext uri="{FF2B5EF4-FFF2-40B4-BE49-F238E27FC236}">
                <a16:creationId xmlns:a16="http://schemas.microsoft.com/office/drawing/2014/main" id="{551FCFD0-D7FA-41C9-A972-8709747C8642}"/>
              </a:ext>
            </a:extLst>
          </p:cNvPr>
          <p:cNvSpPr/>
          <p:nvPr/>
        </p:nvSpPr>
        <p:spPr>
          <a:xfrm>
            <a:off x="8491826" y="3025257"/>
            <a:ext cx="1744212" cy="7605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t>DIET PLAN SUGGESTION</a:t>
            </a:r>
            <a:endParaRPr lang="en-IN" sz="1500" dirty="0"/>
          </a:p>
        </p:txBody>
      </p:sp>
      <p:sp>
        <p:nvSpPr>
          <p:cNvPr id="83" name="Rectangle: Rounded Corners 82">
            <a:extLst>
              <a:ext uri="{FF2B5EF4-FFF2-40B4-BE49-F238E27FC236}">
                <a16:creationId xmlns:a16="http://schemas.microsoft.com/office/drawing/2014/main" id="{63620F12-F2F4-400B-B98E-636A753CA199}"/>
              </a:ext>
            </a:extLst>
          </p:cNvPr>
          <p:cNvSpPr/>
          <p:nvPr/>
        </p:nvSpPr>
        <p:spPr>
          <a:xfrm>
            <a:off x="8491826" y="4263993"/>
            <a:ext cx="1744212" cy="7605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t>WORKOUT SUGGESTIONS</a:t>
            </a:r>
            <a:endParaRPr lang="en-IN" sz="1500" dirty="0"/>
          </a:p>
        </p:txBody>
      </p:sp>
      <p:cxnSp>
        <p:nvCxnSpPr>
          <p:cNvPr id="93" name="Connector: Elbow 92">
            <a:extLst>
              <a:ext uri="{FF2B5EF4-FFF2-40B4-BE49-F238E27FC236}">
                <a16:creationId xmlns:a16="http://schemas.microsoft.com/office/drawing/2014/main" id="{A9214B9D-BFCB-484D-92DE-F16E68158611}"/>
              </a:ext>
            </a:extLst>
          </p:cNvPr>
          <p:cNvCxnSpPr>
            <a:cxnSpLocks/>
            <a:stCxn id="81" idx="3"/>
            <a:endCxn id="82" idx="1"/>
          </p:cNvCxnSpPr>
          <p:nvPr/>
        </p:nvCxnSpPr>
        <p:spPr>
          <a:xfrm>
            <a:off x="10236038" y="3405523"/>
            <a:ext cx="596458" cy="67035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96" name="Connector: Elbow 95">
            <a:extLst>
              <a:ext uri="{FF2B5EF4-FFF2-40B4-BE49-F238E27FC236}">
                <a16:creationId xmlns:a16="http://schemas.microsoft.com/office/drawing/2014/main" id="{617C2B0A-C02B-4DFE-ADE6-6269A75B0D1B}"/>
              </a:ext>
            </a:extLst>
          </p:cNvPr>
          <p:cNvCxnSpPr>
            <a:cxnSpLocks/>
            <a:stCxn id="83" idx="3"/>
            <a:endCxn id="82" idx="1"/>
          </p:cNvCxnSpPr>
          <p:nvPr/>
        </p:nvCxnSpPr>
        <p:spPr>
          <a:xfrm flipV="1">
            <a:off x="10236038" y="4075880"/>
            <a:ext cx="596458" cy="568379"/>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82" name="Rectangle: Rounded Corners 81">
            <a:extLst>
              <a:ext uri="{FF2B5EF4-FFF2-40B4-BE49-F238E27FC236}">
                <a16:creationId xmlns:a16="http://schemas.microsoft.com/office/drawing/2014/main" id="{6CEE2ADB-FDF0-45DA-8F93-FD14C0AB7D51}"/>
              </a:ext>
            </a:extLst>
          </p:cNvPr>
          <p:cNvSpPr/>
          <p:nvPr/>
        </p:nvSpPr>
        <p:spPr>
          <a:xfrm>
            <a:off x="10832496" y="3785789"/>
            <a:ext cx="938436" cy="5801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END</a:t>
            </a:r>
            <a:endParaRPr lang="en-IN"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3" name="Picture 272" descr="C:\Documents and Settings\any\Desktop\MCT Logo\RGIT Logo 01 A.jpg">
            <a:extLst>
              <a:ext uri="{FF2B5EF4-FFF2-40B4-BE49-F238E27FC236}">
                <a16:creationId xmlns:a16="http://schemas.microsoft.com/office/drawing/2014/main" id="{62950181-54F6-E2B5-5B48-833D4287C196}"/>
              </a:ext>
            </a:extLst>
          </p:cNvPr>
          <p:cNvPicPr/>
          <p:nvPr/>
        </p:nvPicPr>
        <p:blipFill>
          <a:blip r:embed="rId2" cstate="print"/>
          <a:srcRect/>
          <a:stretch>
            <a:fillRect/>
          </a:stretch>
        </p:blipFill>
        <p:spPr bwMode="auto">
          <a:xfrm>
            <a:off x="3073419" y="152100"/>
            <a:ext cx="6045160" cy="881680"/>
          </a:xfrm>
          <a:prstGeom prst="rect">
            <a:avLst/>
          </a:prstGeom>
          <a:noFill/>
          <a:ln w="9525">
            <a:noFill/>
            <a:miter lim="800000"/>
            <a:headEnd/>
            <a:tailEnd/>
          </a:ln>
        </p:spPr>
      </p:pic>
      <p:sp>
        <p:nvSpPr>
          <p:cNvPr id="275" name="TextBox 274">
            <a:extLst>
              <a:ext uri="{FF2B5EF4-FFF2-40B4-BE49-F238E27FC236}">
                <a16:creationId xmlns:a16="http://schemas.microsoft.com/office/drawing/2014/main" id="{0A7BFC3A-4416-5438-9737-502B86ACE03F}"/>
              </a:ext>
            </a:extLst>
          </p:cNvPr>
          <p:cNvSpPr txBox="1"/>
          <p:nvPr/>
        </p:nvSpPr>
        <p:spPr>
          <a:xfrm>
            <a:off x="2305067" y="1010777"/>
            <a:ext cx="7416800" cy="276999"/>
          </a:xfrm>
          <a:prstGeom prst="rect">
            <a:avLst/>
          </a:prstGeom>
          <a:noFill/>
        </p:spPr>
        <p:txBody>
          <a:bodyPr wrap="square">
            <a:spAutoFit/>
          </a:bodyPr>
          <a:lstStyle/>
          <a:p>
            <a:pPr algn="ctr" fontAlgn="base">
              <a:spcBef>
                <a:spcPct val="0"/>
              </a:spcBef>
              <a:spcAft>
                <a:spcPct val="0"/>
              </a:spcAft>
              <a:defRPr/>
            </a:pPr>
            <a:r>
              <a:rPr lang="en-US" sz="1200" dirty="0">
                <a:latin typeface="Times New Roman" panose="02020603050405020304" pitchFamily="18" charset="0"/>
                <a:cs typeface="Times New Roman" panose="02020603050405020304" pitchFamily="18" charset="0"/>
              </a:rPr>
              <a:t>Department of Artificial Intelligence And Data Science Engineering</a:t>
            </a:r>
            <a:endParaRPr lang="en-US" sz="1200" dirty="0">
              <a:solidFill>
                <a:srgbClr val="000000">
                  <a:lumMod val="75000"/>
                  <a:lumOff val="25000"/>
                </a:srgbClr>
              </a:solidFill>
              <a:latin typeface="Times New Roman" panose="02020603050405020304" pitchFamily="18" charset="0"/>
              <a:cs typeface="Times New Roman" panose="02020603050405020304" pitchFamily="18" charset="0"/>
            </a:endParaRPr>
          </a:p>
        </p:txBody>
      </p:sp>
      <p:sp>
        <p:nvSpPr>
          <p:cNvPr id="5" name="Title 4">
            <a:extLst>
              <a:ext uri="{FF2B5EF4-FFF2-40B4-BE49-F238E27FC236}">
                <a16:creationId xmlns:a16="http://schemas.microsoft.com/office/drawing/2014/main" id="{E9298A65-8117-4E61-AC50-BBB3D51EF723}"/>
              </a:ext>
            </a:extLst>
          </p:cNvPr>
          <p:cNvSpPr>
            <a:spLocks noGrp="1"/>
          </p:cNvSpPr>
          <p:nvPr>
            <p:ph type="title"/>
          </p:nvPr>
        </p:nvSpPr>
        <p:spPr>
          <a:xfrm>
            <a:off x="3493910" y="1440337"/>
            <a:ext cx="5204178" cy="610034"/>
          </a:xfrm>
        </p:spPr>
        <p:txBody>
          <a:bodyPr/>
          <a:lstStyle/>
          <a:p>
            <a:r>
              <a:rPr lang="en-US" sz="3200" b="1" dirty="0">
                <a:latin typeface="Times New Roman" panose="02020603050405020304" pitchFamily="18" charset="0"/>
                <a:cs typeface="Times New Roman" panose="02020603050405020304" pitchFamily="18" charset="0"/>
              </a:rPr>
              <a:t>SYSTEM FLOW CHART</a:t>
            </a:r>
            <a:endParaRPr lang="en-IN" sz="3200" b="1" dirty="0">
              <a:latin typeface="Times New Roman" panose="02020603050405020304" pitchFamily="18" charset="0"/>
              <a:cs typeface="Times New Roman" panose="02020603050405020304" pitchFamily="18" charset="0"/>
            </a:endParaRPr>
          </a:p>
        </p:txBody>
      </p:sp>
      <p:sp>
        <p:nvSpPr>
          <p:cNvPr id="30" name="Rectangle: Rounded Corners 29">
            <a:extLst>
              <a:ext uri="{FF2B5EF4-FFF2-40B4-BE49-F238E27FC236}">
                <a16:creationId xmlns:a16="http://schemas.microsoft.com/office/drawing/2014/main" id="{E3D281BD-1D81-46DF-AF84-0BED17FD4E5F}"/>
              </a:ext>
            </a:extLst>
          </p:cNvPr>
          <p:cNvSpPr/>
          <p:nvPr/>
        </p:nvSpPr>
        <p:spPr>
          <a:xfrm>
            <a:off x="379707" y="3990914"/>
            <a:ext cx="1038412" cy="39739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USER</a:t>
            </a:r>
            <a:endParaRPr lang="en-IN" dirty="0"/>
          </a:p>
        </p:txBody>
      </p:sp>
      <p:sp>
        <p:nvSpPr>
          <p:cNvPr id="32" name="Rectangle: Rounded Corners 31">
            <a:extLst>
              <a:ext uri="{FF2B5EF4-FFF2-40B4-BE49-F238E27FC236}">
                <a16:creationId xmlns:a16="http://schemas.microsoft.com/office/drawing/2014/main" id="{1CDD5129-47B0-4C8B-A31A-C232633E5E71}"/>
              </a:ext>
            </a:extLst>
          </p:cNvPr>
          <p:cNvSpPr/>
          <p:nvPr/>
        </p:nvSpPr>
        <p:spPr>
          <a:xfrm>
            <a:off x="1829673" y="3990360"/>
            <a:ext cx="1946823" cy="39739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LANDING PAGE</a:t>
            </a:r>
            <a:endParaRPr lang="en-IN" dirty="0"/>
          </a:p>
        </p:txBody>
      </p:sp>
      <p:sp>
        <p:nvSpPr>
          <p:cNvPr id="33" name="Rectangle: Rounded Corners 32">
            <a:extLst>
              <a:ext uri="{FF2B5EF4-FFF2-40B4-BE49-F238E27FC236}">
                <a16:creationId xmlns:a16="http://schemas.microsoft.com/office/drawing/2014/main" id="{1DDB2E10-5D14-4803-9E35-065A21C8A5A0}"/>
              </a:ext>
            </a:extLst>
          </p:cNvPr>
          <p:cNvSpPr/>
          <p:nvPr/>
        </p:nvSpPr>
        <p:spPr>
          <a:xfrm>
            <a:off x="9529462" y="3858171"/>
            <a:ext cx="1798957" cy="65320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dirty="0"/>
              <a:t> DASHBOARD</a:t>
            </a:r>
          </a:p>
          <a:p>
            <a:r>
              <a:rPr lang="en-IN" dirty="0"/>
              <a:t> (FRONTEND) </a:t>
            </a:r>
            <a:endParaRPr lang="en-IN" sz="1800" dirty="0">
              <a:latin typeface="Times New Roman" panose="02020603050405020304" pitchFamily="18" charset="0"/>
              <a:cs typeface="Times New Roman" panose="02020603050405020304" pitchFamily="18" charset="0"/>
            </a:endParaRPr>
          </a:p>
        </p:txBody>
      </p:sp>
      <p:sp>
        <p:nvSpPr>
          <p:cNvPr id="34" name="Rectangle: Rounded Corners 33">
            <a:extLst>
              <a:ext uri="{FF2B5EF4-FFF2-40B4-BE49-F238E27FC236}">
                <a16:creationId xmlns:a16="http://schemas.microsoft.com/office/drawing/2014/main" id="{707F87C0-FB7A-4305-96AB-59A07CF5D33D}"/>
              </a:ext>
            </a:extLst>
          </p:cNvPr>
          <p:cNvSpPr/>
          <p:nvPr/>
        </p:nvSpPr>
        <p:spPr>
          <a:xfrm>
            <a:off x="4396270" y="3115031"/>
            <a:ext cx="1946822" cy="34397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GUEST LOGIN</a:t>
            </a:r>
            <a:endParaRPr lang="en-IN" dirty="0"/>
          </a:p>
        </p:txBody>
      </p:sp>
      <p:sp>
        <p:nvSpPr>
          <p:cNvPr id="36" name="Rectangle: Rounded Corners 35">
            <a:extLst>
              <a:ext uri="{FF2B5EF4-FFF2-40B4-BE49-F238E27FC236}">
                <a16:creationId xmlns:a16="http://schemas.microsoft.com/office/drawing/2014/main" id="{0D909410-C0F0-44F8-A71E-D7F80E39B567}"/>
              </a:ext>
            </a:extLst>
          </p:cNvPr>
          <p:cNvSpPr/>
          <p:nvPr/>
        </p:nvSpPr>
        <p:spPr>
          <a:xfrm>
            <a:off x="4396270" y="3986776"/>
            <a:ext cx="1946822" cy="39599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LOGIN/SIGNUP</a:t>
            </a:r>
            <a:endParaRPr lang="en-IN" dirty="0"/>
          </a:p>
        </p:txBody>
      </p:sp>
      <p:sp>
        <p:nvSpPr>
          <p:cNvPr id="37" name="Rectangle: Rounded Corners 36">
            <a:extLst>
              <a:ext uri="{FF2B5EF4-FFF2-40B4-BE49-F238E27FC236}">
                <a16:creationId xmlns:a16="http://schemas.microsoft.com/office/drawing/2014/main" id="{36463365-04D6-4A5A-A83F-8678BC42A0B2}"/>
              </a:ext>
            </a:extLst>
          </p:cNvPr>
          <p:cNvSpPr/>
          <p:nvPr/>
        </p:nvSpPr>
        <p:spPr>
          <a:xfrm>
            <a:off x="4396270" y="5094345"/>
            <a:ext cx="1946822" cy="35480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REGISTER</a:t>
            </a:r>
            <a:endParaRPr lang="en-IN" dirty="0"/>
          </a:p>
        </p:txBody>
      </p:sp>
      <p:sp>
        <p:nvSpPr>
          <p:cNvPr id="39" name="Rectangle: Rounded Corners 38">
            <a:extLst>
              <a:ext uri="{FF2B5EF4-FFF2-40B4-BE49-F238E27FC236}">
                <a16:creationId xmlns:a16="http://schemas.microsoft.com/office/drawing/2014/main" id="{4C968C16-B2A1-4962-BB13-50472767CD7E}"/>
              </a:ext>
            </a:extLst>
          </p:cNvPr>
          <p:cNvSpPr/>
          <p:nvPr/>
        </p:nvSpPr>
        <p:spPr>
          <a:xfrm>
            <a:off x="6962866" y="3986775"/>
            <a:ext cx="1545416" cy="39599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BACKEND</a:t>
            </a:r>
            <a:endParaRPr lang="en-IN" dirty="0"/>
          </a:p>
        </p:txBody>
      </p:sp>
      <p:sp>
        <p:nvSpPr>
          <p:cNvPr id="40" name="Rectangle: Rounded Corners 39">
            <a:extLst>
              <a:ext uri="{FF2B5EF4-FFF2-40B4-BE49-F238E27FC236}">
                <a16:creationId xmlns:a16="http://schemas.microsoft.com/office/drawing/2014/main" id="{3B04DCA2-C947-4593-86C6-DDA4F6A253E2}"/>
              </a:ext>
            </a:extLst>
          </p:cNvPr>
          <p:cNvSpPr/>
          <p:nvPr/>
        </p:nvSpPr>
        <p:spPr>
          <a:xfrm>
            <a:off x="9246702" y="5561655"/>
            <a:ext cx="1427707" cy="91800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dirty="0"/>
              <a:t>EXPLORE</a:t>
            </a:r>
          </a:p>
          <a:p>
            <a:r>
              <a:rPr lang="en-IN" sz="1800" dirty="0">
                <a:latin typeface="Times New Roman" panose="02020603050405020304" pitchFamily="18" charset="0"/>
                <a:cs typeface="Times New Roman" panose="02020603050405020304" pitchFamily="18" charset="0"/>
              </a:rPr>
              <a:t>CALORIES        COUNT </a:t>
            </a:r>
          </a:p>
        </p:txBody>
      </p:sp>
      <p:cxnSp>
        <p:nvCxnSpPr>
          <p:cNvPr id="43" name="Connector: Elbow 42">
            <a:extLst>
              <a:ext uri="{FF2B5EF4-FFF2-40B4-BE49-F238E27FC236}">
                <a16:creationId xmlns:a16="http://schemas.microsoft.com/office/drawing/2014/main" id="{9EB23563-515A-4698-AE37-D66A61DF4750}"/>
              </a:ext>
            </a:extLst>
          </p:cNvPr>
          <p:cNvCxnSpPr>
            <a:cxnSpLocks/>
            <a:stCxn id="33" idx="2"/>
            <a:endCxn id="40" idx="0"/>
          </p:cNvCxnSpPr>
          <p:nvPr/>
        </p:nvCxnSpPr>
        <p:spPr>
          <a:xfrm rot="5400000">
            <a:off x="9669608" y="4802321"/>
            <a:ext cx="1050283" cy="468385"/>
          </a:xfrm>
          <a:prstGeom prst="bentConnector3">
            <a:avLst>
              <a:gd name="adj1" fmla="val 50000"/>
            </a:avLst>
          </a:prstGeom>
          <a:ln>
            <a:solidFill>
              <a:schemeClr val="tx1"/>
            </a:solidFill>
            <a:headEnd type="triangle"/>
            <a:tailEnd type="triangle"/>
          </a:ln>
        </p:spPr>
        <p:style>
          <a:lnRef idx="1">
            <a:schemeClr val="dk1"/>
          </a:lnRef>
          <a:fillRef idx="0">
            <a:schemeClr val="dk1"/>
          </a:fillRef>
          <a:effectRef idx="0">
            <a:schemeClr val="dk1"/>
          </a:effectRef>
          <a:fontRef idx="minor">
            <a:schemeClr val="tx1"/>
          </a:fontRef>
        </p:style>
      </p:cxnSp>
      <p:cxnSp>
        <p:nvCxnSpPr>
          <p:cNvPr id="44" name="Straight Arrow Connector 43">
            <a:extLst>
              <a:ext uri="{FF2B5EF4-FFF2-40B4-BE49-F238E27FC236}">
                <a16:creationId xmlns:a16="http://schemas.microsoft.com/office/drawing/2014/main" id="{252F3481-73EF-42F1-882C-25E8D9A157F4}"/>
              </a:ext>
            </a:extLst>
          </p:cNvPr>
          <p:cNvCxnSpPr>
            <a:cxnSpLocks/>
            <a:stCxn id="32" idx="3"/>
            <a:endCxn id="36" idx="1"/>
          </p:cNvCxnSpPr>
          <p:nvPr/>
        </p:nvCxnSpPr>
        <p:spPr>
          <a:xfrm flipV="1">
            <a:off x="3776496" y="4184774"/>
            <a:ext cx="619774" cy="4283"/>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7F6BC896-C96A-4676-8D82-47592AAE7E7D}"/>
              </a:ext>
            </a:extLst>
          </p:cNvPr>
          <p:cNvCxnSpPr>
            <a:cxnSpLocks/>
            <a:stCxn id="36" idx="0"/>
            <a:endCxn id="34" idx="2"/>
          </p:cNvCxnSpPr>
          <p:nvPr/>
        </p:nvCxnSpPr>
        <p:spPr>
          <a:xfrm flipV="1">
            <a:off x="5369681" y="3459003"/>
            <a:ext cx="0" cy="527773"/>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DC825BFC-5466-4C74-A9DE-A6DD4AB26205}"/>
              </a:ext>
            </a:extLst>
          </p:cNvPr>
          <p:cNvCxnSpPr>
            <a:cxnSpLocks/>
            <a:stCxn id="36" idx="3"/>
            <a:endCxn id="39" idx="1"/>
          </p:cNvCxnSpPr>
          <p:nvPr/>
        </p:nvCxnSpPr>
        <p:spPr>
          <a:xfrm flipV="1">
            <a:off x="6343092" y="4184773"/>
            <a:ext cx="619774" cy="1"/>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2F3FADE6-1478-49B0-84AC-45C66C2B9838}"/>
              </a:ext>
            </a:extLst>
          </p:cNvPr>
          <p:cNvCxnSpPr>
            <a:cxnSpLocks/>
            <a:stCxn id="37" idx="0"/>
            <a:endCxn id="36" idx="2"/>
          </p:cNvCxnSpPr>
          <p:nvPr/>
        </p:nvCxnSpPr>
        <p:spPr>
          <a:xfrm flipV="1">
            <a:off x="5369681" y="4382771"/>
            <a:ext cx="0" cy="711574"/>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48" name="Connector: Elbow 47">
            <a:extLst>
              <a:ext uri="{FF2B5EF4-FFF2-40B4-BE49-F238E27FC236}">
                <a16:creationId xmlns:a16="http://schemas.microsoft.com/office/drawing/2014/main" id="{339A5667-F25D-46DB-A4DC-2F2E427A1C18}"/>
              </a:ext>
            </a:extLst>
          </p:cNvPr>
          <p:cNvCxnSpPr>
            <a:cxnSpLocks/>
            <a:stCxn id="32" idx="2"/>
            <a:endCxn id="37" idx="1"/>
          </p:cNvCxnSpPr>
          <p:nvPr/>
        </p:nvCxnSpPr>
        <p:spPr>
          <a:xfrm rot="16200000" flipH="1">
            <a:off x="3157681" y="4033157"/>
            <a:ext cx="883992" cy="1593185"/>
          </a:xfrm>
          <a:prstGeom prst="bentConnector2">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49" name="Connector: Elbow 48">
            <a:extLst>
              <a:ext uri="{FF2B5EF4-FFF2-40B4-BE49-F238E27FC236}">
                <a16:creationId xmlns:a16="http://schemas.microsoft.com/office/drawing/2014/main" id="{F4E5CFD9-F21E-40B7-9C62-CFC699ADA444}"/>
              </a:ext>
            </a:extLst>
          </p:cNvPr>
          <p:cNvCxnSpPr>
            <a:cxnSpLocks/>
            <a:stCxn id="32" idx="0"/>
            <a:endCxn id="34" idx="1"/>
          </p:cNvCxnSpPr>
          <p:nvPr/>
        </p:nvCxnSpPr>
        <p:spPr>
          <a:xfrm rot="5400000" flipH="1" flipV="1">
            <a:off x="3248006" y="2842097"/>
            <a:ext cx="703343" cy="1593185"/>
          </a:xfrm>
          <a:prstGeom prst="bentConnector2">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51" name="Straight Arrow Connector 50">
            <a:extLst>
              <a:ext uri="{FF2B5EF4-FFF2-40B4-BE49-F238E27FC236}">
                <a16:creationId xmlns:a16="http://schemas.microsoft.com/office/drawing/2014/main" id="{B98B7119-DEBB-4909-A65F-905AEC37DFDA}"/>
              </a:ext>
            </a:extLst>
          </p:cNvPr>
          <p:cNvCxnSpPr>
            <a:cxnSpLocks/>
            <a:stCxn id="39" idx="3"/>
            <a:endCxn id="33" idx="1"/>
          </p:cNvCxnSpPr>
          <p:nvPr/>
        </p:nvCxnSpPr>
        <p:spPr>
          <a:xfrm flipV="1">
            <a:off x="8508282" y="4184772"/>
            <a:ext cx="1021180"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3" name="Straight Arrow Connector 52">
            <a:extLst>
              <a:ext uri="{FF2B5EF4-FFF2-40B4-BE49-F238E27FC236}">
                <a16:creationId xmlns:a16="http://schemas.microsoft.com/office/drawing/2014/main" id="{A7FF6360-8C91-4B19-8721-4CEB8C691BA5}"/>
              </a:ext>
            </a:extLst>
          </p:cNvPr>
          <p:cNvCxnSpPr>
            <a:cxnSpLocks/>
            <a:stCxn id="30" idx="3"/>
            <a:endCxn id="32" idx="1"/>
          </p:cNvCxnSpPr>
          <p:nvPr/>
        </p:nvCxnSpPr>
        <p:spPr>
          <a:xfrm flipV="1">
            <a:off x="1418119" y="4189057"/>
            <a:ext cx="411554" cy="55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4" name="Straight Arrow Connector 53">
            <a:extLst>
              <a:ext uri="{FF2B5EF4-FFF2-40B4-BE49-F238E27FC236}">
                <a16:creationId xmlns:a16="http://schemas.microsoft.com/office/drawing/2014/main" id="{FAAD9890-83B9-4D3C-963D-F1ABAA17A16D}"/>
              </a:ext>
            </a:extLst>
          </p:cNvPr>
          <p:cNvCxnSpPr>
            <a:cxnSpLocks/>
            <a:stCxn id="34" idx="3"/>
            <a:endCxn id="39" idx="0"/>
          </p:cNvCxnSpPr>
          <p:nvPr/>
        </p:nvCxnSpPr>
        <p:spPr>
          <a:xfrm>
            <a:off x="6343092" y="3287017"/>
            <a:ext cx="1392482" cy="699758"/>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55" name="Straight Arrow Connector 54">
            <a:extLst>
              <a:ext uri="{FF2B5EF4-FFF2-40B4-BE49-F238E27FC236}">
                <a16:creationId xmlns:a16="http://schemas.microsoft.com/office/drawing/2014/main" id="{1E93A0A9-A02B-4443-8690-1E4463694E27}"/>
              </a:ext>
            </a:extLst>
          </p:cNvPr>
          <p:cNvCxnSpPr>
            <a:cxnSpLocks/>
            <a:stCxn id="37" idx="3"/>
            <a:endCxn id="39" idx="2"/>
          </p:cNvCxnSpPr>
          <p:nvPr/>
        </p:nvCxnSpPr>
        <p:spPr>
          <a:xfrm flipV="1">
            <a:off x="6343092" y="4382770"/>
            <a:ext cx="1392482" cy="888976"/>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397995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81993" y="1469956"/>
            <a:ext cx="4177171" cy="711200"/>
          </a:xfrm>
        </p:spPr>
        <p:txBody>
          <a:bodyPr>
            <a:normAutofit/>
          </a:bodyPr>
          <a:lstStyle/>
          <a:p>
            <a:r>
              <a:rPr lang="en-US" sz="3200" b="1" dirty="0">
                <a:latin typeface="Times New Roman" panose="02020603050405020304" pitchFamily="18" charset="0"/>
                <a:cs typeface="Times New Roman" panose="02020603050405020304" pitchFamily="18" charset="0"/>
              </a:rPr>
              <a:t>IMPLEMENTATION</a:t>
            </a:r>
          </a:p>
        </p:txBody>
      </p:sp>
      <p:sp>
        <p:nvSpPr>
          <p:cNvPr id="3" name="Rectangle 1">
            <a:extLst>
              <a:ext uri="{FF2B5EF4-FFF2-40B4-BE49-F238E27FC236}">
                <a16:creationId xmlns:a16="http://schemas.microsoft.com/office/drawing/2014/main" id="{4C546808-636C-B00B-CACC-01BF730A7057}"/>
              </a:ext>
            </a:extLst>
          </p:cNvPr>
          <p:cNvSpPr>
            <a:spLocks noChangeArrowheads="1"/>
          </p:cNvSpPr>
          <p:nvPr/>
        </p:nvSpPr>
        <p:spPr bwMode="auto">
          <a:xfrm>
            <a:off x="698092" y="2150379"/>
            <a:ext cx="11016343"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FRONTEND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Built using HTML,CSS</a:t>
            </a:r>
            <a:r>
              <a:rPr lang="en-US" altLang="en-US" sz="2000" dirty="0">
                <a:latin typeface="Times New Roman" panose="02020603050405020304" pitchFamily="18" charset="0"/>
                <a:cs typeface="Times New Roman" panose="02020603050405020304" pitchFamily="18" charset="0"/>
              </a:rPr>
              <a:t>, &amp; JS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a responsive and user-friendly interface.</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000" b="1" dirty="0">
                <a:latin typeface="Times New Roman" panose="02020603050405020304" pitchFamily="18" charset="0"/>
                <a:cs typeface="Times New Roman" panose="02020603050405020304" pitchFamily="18" charset="0"/>
              </a:rPr>
              <a:t>BACKEND </a:t>
            </a:r>
            <a:r>
              <a:rPr lang="en-US" altLang="en-US" sz="2000" dirty="0">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Built using FLASK FRAMEWORK</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000" b="1" dirty="0">
                <a:latin typeface="Times New Roman" panose="02020603050405020304" pitchFamily="18" charset="0"/>
                <a:cs typeface="Times New Roman" panose="02020603050405020304" pitchFamily="18" charset="0"/>
              </a:rPr>
              <a:t>DASHBOARD CREATED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Searchbar</a:t>
            </a:r>
            <a:r>
              <a:rPr lang="en-US" altLang="en-US" sz="2000" dirty="0">
                <a:latin typeface="Times New Roman" panose="02020603050405020304" pitchFamily="18" charset="0"/>
                <a:cs typeface="Times New Roman" panose="02020603050405020304" pitchFamily="18" charset="0"/>
              </a:rPr>
              <a:t>, Result, Nutritional values ,workout plan</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FUTURE SCOPE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B</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ackend integration &amp; database for full functionality of</a:t>
            </a:r>
            <a:r>
              <a:rPr lang="en-US" altLang="en-US" sz="2000" dirty="0">
                <a:latin typeface="Times New Roman" panose="02020603050405020304" pitchFamily="18" charset="0"/>
                <a:cs typeface="Times New Roman" panose="02020603050405020304" pitchFamily="18" charset="0"/>
              </a:rPr>
              <a:t> Nutritional values, workout plan</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2000" dirty="0">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4" name="Picture 3" descr="C:\Documents and Settings\any\Desktop\MCT Logo\RGIT Logo 01 A.jpg">
            <a:extLst>
              <a:ext uri="{FF2B5EF4-FFF2-40B4-BE49-F238E27FC236}">
                <a16:creationId xmlns:a16="http://schemas.microsoft.com/office/drawing/2014/main" id="{ECB8A18F-C5F3-9233-7934-3A7EE2592BAE}"/>
              </a:ext>
            </a:extLst>
          </p:cNvPr>
          <p:cNvPicPr/>
          <p:nvPr/>
        </p:nvPicPr>
        <p:blipFill>
          <a:blip r:embed="rId2" cstate="print"/>
          <a:srcRect/>
          <a:stretch>
            <a:fillRect/>
          </a:stretch>
        </p:blipFill>
        <p:spPr bwMode="auto">
          <a:xfrm>
            <a:off x="3073419" y="152100"/>
            <a:ext cx="6045160" cy="881680"/>
          </a:xfrm>
          <a:prstGeom prst="rect">
            <a:avLst/>
          </a:prstGeom>
          <a:noFill/>
          <a:ln w="9525">
            <a:noFill/>
            <a:miter lim="800000"/>
            <a:headEnd/>
            <a:tailEnd/>
          </a:ln>
        </p:spPr>
      </p:pic>
      <p:sp>
        <p:nvSpPr>
          <p:cNvPr id="6" name="TextBox 5">
            <a:extLst>
              <a:ext uri="{FF2B5EF4-FFF2-40B4-BE49-F238E27FC236}">
                <a16:creationId xmlns:a16="http://schemas.microsoft.com/office/drawing/2014/main" id="{AFD377ED-11E9-FDC6-D73A-17A42BFAEBAE}"/>
              </a:ext>
            </a:extLst>
          </p:cNvPr>
          <p:cNvSpPr txBox="1"/>
          <p:nvPr/>
        </p:nvSpPr>
        <p:spPr>
          <a:xfrm>
            <a:off x="3022579" y="1033780"/>
            <a:ext cx="6096000" cy="276999"/>
          </a:xfrm>
          <a:prstGeom prst="rect">
            <a:avLst/>
          </a:prstGeom>
          <a:noFill/>
        </p:spPr>
        <p:txBody>
          <a:bodyPr wrap="square">
            <a:spAutoFit/>
          </a:bodyPr>
          <a:lstStyle/>
          <a:p>
            <a:pPr algn="ctr" fontAlgn="base">
              <a:spcBef>
                <a:spcPct val="0"/>
              </a:spcBef>
              <a:spcAft>
                <a:spcPct val="0"/>
              </a:spcAft>
              <a:defRPr/>
            </a:pPr>
            <a:r>
              <a:rPr lang="en-US" sz="1200" dirty="0">
                <a:latin typeface="Times New Roman" panose="02020603050405020304" pitchFamily="18" charset="0"/>
                <a:cs typeface="Times New Roman" panose="02020603050405020304" pitchFamily="18" charset="0"/>
              </a:rPr>
              <a:t>Department of Artificial Intelligence And Data Science Engineering</a:t>
            </a:r>
            <a:endParaRPr lang="en-US" sz="1200" dirty="0">
              <a:solidFill>
                <a:srgbClr val="000000">
                  <a:lumMod val="75000"/>
                  <a:lumOff val="25000"/>
                </a:srgb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489380" y="1382209"/>
            <a:ext cx="3529330" cy="555554"/>
          </a:xfrm>
        </p:spPr>
        <p:txBody>
          <a:bodyPr>
            <a:normAutofit fontScale="90000"/>
          </a:bodyPr>
          <a:lstStyle/>
          <a:p>
            <a:r>
              <a:rPr lang="en-US" sz="3200" b="1" dirty="0">
                <a:latin typeface="Times New Roman" panose="02020603050405020304" pitchFamily="18" charset="0"/>
                <a:cs typeface="Times New Roman" panose="02020603050405020304" pitchFamily="18" charset="0"/>
              </a:rPr>
              <a:t>REFERNCE</a:t>
            </a:r>
            <a:endParaRPr lang="en-IN" sz="32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711200" y="2197893"/>
            <a:ext cx="10769600" cy="3323987"/>
          </a:xfrm>
          <a:prstGeom prst="rect">
            <a:avLst/>
          </a:prstGeom>
          <a:noFill/>
        </p:spPr>
        <p:txBody>
          <a:bodyPr wrap="square">
            <a:spAutoFit/>
          </a:bodyPr>
          <a:lstStyle/>
          <a:p>
            <a:pPr marL="285750" indent="-285750">
              <a:buFont typeface="Arial" panose="020B0604020202020204" pitchFamily="34" charset="0"/>
              <a:buChar char="•"/>
            </a:pPr>
            <a:r>
              <a:rPr lang="en-IN" sz="1400" dirty="0">
                <a:hlinkClick r:id="rId2"/>
              </a:rPr>
              <a:t>https://www.researchgate.net/publication/344394651_User_engagement_and_the_role_of_mHealth_in_self-management_of_diabetes_Real-world_evidence_from_the_Cornerstones4CareR_app</a:t>
            </a:r>
            <a:endParaRPr lang="en-IN" sz="1400" dirty="0"/>
          </a:p>
          <a:p>
            <a:pPr marL="285750" indent="-285750">
              <a:buFont typeface="Arial" panose="020B0604020202020204" pitchFamily="34" charset="0"/>
              <a:buChar char="•"/>
            </a:pPr>
            <a:endParaRPr lang="en-IN" sz="1400" dirty="0"/>
          </a:p>
          <a:p>
            <a:pPr marL="285750" indent="-285750">
              <a:buFont typeface="Arial" panose="020B0604020202020204" pitchFamily="34" charset="0"/>
              <a:buChar char="•"/>
            </a:pPr>
            <a:r>
              <a:rPr lang="en-IN" sz="1400" dirty="0">
                <a:hlinkClick r:id="rId3"/>
              </a:rPr>
              <a:t>https://www.mdpi.com/2571-5577/6/2/53</a:t>
            </a:r>
            <a:endParaRPr lang="en-IN" sz="1400" dirty="0"/>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IN" sz="1400" dirty="0"/>
              <a:t>https://pmc.ncbi.nlm.nih.gov/articles/PMC8160976/</a:t>
            </a:r>
          </a:p>
          <a:p>
            <a:pPr marL="285750" indent="-285750">
              <a:buFont typeface="Arial" panose="020B0604020202020204" pitchFamily="34" charset="0"/>
              <a:buChar char="•"/>
            </a:pPr>
            <a:endParaRPr lang="en-IN" sz="1400" dirty="0"/>
          </a:p>
          <a:p>
            <a:pPr marL="285750" indent="-285750">
              <a:buFont typeface="Arial" panose="020B0604020202020204" pitchFamily="34" charset="0"/>
              <a:buChar char="•"/>
            </a:pPr>
            <a:r>
              <a:rPr lang="en-IN" sz="1400" dirty="0"/>
              <a:t>Allen, J. K., Stephens , J., Dennison Himmelfarb, C. R., Stewart, K. J., &amp; Hauck, S. (2013). Randomized controlled pilot study testing use of smartphone technology for obesity treatment. Journal of obesity, 2013(ID 151597). </a:t>
            </a:r>
          </a:p>
          <a:p>
            <a:pPr marL="285750" indent="-285750">
              <a:buFont typeface="Arial" panose="020B0604020202020204" pitchFamily="34" charset="0"/>
              <a:buChar char="•"/>
            </a:pPr>
            <a:endParaRPr lang="en-IN" sz="1400" dirty="0"/>
          </a:p>
          <a:p>
            <a:pPr marL="285750" indent="-285750">
              <a:buFont typeface="Arial" panose="020B0604020202020204" pitchFamily="34" charset="0"/>
              <a:buChar char="•"/>
            </a:pPr>
            <a:r>
              <a:rPr lang="en-IN" sz="1400" dirty="0"/>
              <a:t>Anderson, D. A., Shapiro, J. R., &amp; Lundgren, J. D. (2001). The </a:t>
            </a:r>
            <a:r>
              <a:rPr lang="en-IN" sz="1400" dirty="0" err="1"/>
              <a:t>behavioral</a:t>
            </a:r>
            <a:r>
              <a:rPr lang="en-IN" sz="1400" dirty="0"/>
              <a:t> treatment of obesity. he </a:t>
            </a:r>
            <a:r>
              <a:rPr lang="en-IN" sz="1400" dirty="0" err="1"/>
              <a:t>Behavior</a:t>
            </a:r>
            <a:r>
              <a:rPr lang="en-IN" sz="1400" dirty="0"/>
              <a:t> Analyst Today, 2(2), 133-140.</a:t>
            </a:r>
          </a:p>
          <a:p>
            <a:pPr marL="285750" indent="-285750">
              <a:buFont typeface="Arial" panose="020B0604020202020204" pitchFamily="34" charset="0"/>
              <a:buChar char="•"/>
            </a:pPr>
            <a:endParaRPr lang="en-IN" sz="1400" dirty="0"/>
          </a:p>
          <a:p>
            <a:pPr marL="285750" indent="-285750">
              <a:buFont typeface="Arial" panose="020B0604020202020204" pitchFamily="34" charset="0"/>
              <a:buChar char="•"/>
            </a:pPr>
            <a:r>
              <a:rPr lang="en-US" sz="1400" dirty="0"/>
              <a:t>Chakma JK and Gupta S. Lifestyle and non-communicable diseases: a double edged sword for future India. Indian J Comm Health 2014; 26: 325–332.</a:t>
            </a:r>
            <a:r>
              <a:rPr lang="en-IN" sz="1400" dirty="0"/>
              <a:t> </a:t>
            </a:r>
          </a:p>
        </p:txBody>
      </p:sp>
      <p:pic>
        <p:nvPicPr>
          <p:cNvPr id="3" name="Picture 2" descr="C:\Documents and Settings\any\Desktop\MCT Logo\RGIT Logo 01 A.jpg">
            <a:extLst>
              <a:ext uri="{FF2B5EF4-FFF2-40B4-BE49-F238E27FC236}">
                <a16:creationId xmlns:a16="http://schemas.microsoft.com/office/drawing/2014/main" id="{ACA424C0-B965-D56C-0327-AE1132E974EE}"/>
              </a:ext>
            </a:extLst>
          </p:cNvPr>
          <p:cNvPicPr/>
          <p:nvPr/>
        </p:nvPicPr>
        <p:blipFill>
          <a:blip r:embed="rId4" cstate="print"/>
          <a:srcRect/>
          <a:stretch>
            <a:fillRect/>
          </a:stretch>
        </p:blipFill>
        <p:spPr bwMode="auto">
          <a:xfrm>
            <a:off x="3073420" y="152100"/>
            <a:ext cx="6045160" cy="881680"/>
          </a:xfrm>
          <a:prstGeom prst="rect">
            <a:avLst/>
          </a:prstGeom>
          <a:noFill/>
          <a:ln w="9525">
            <a:noFill/>
            <a:miter lim="800000"/>
            <a:headEnd/>
            <a:tailEnd/>
          </a:ln>
        </p:spPr>
      </p:pic>
      <p:sp>
        <p:nvSpPr>
          <p:cNvPr id="6" name="TextBox 5">
            <a:extLst>
              <a:ext uri="{FF2B5EF4-FFF2-40B4-BE49-F238E27FC236}">
                <a16:creationId xmlns:a16="http://schemas.microsoft.com/office/drawing/2014/main" id="{B7A8CFE9-556A-6013-CC53-10F637653376}"/>
              </a:ext>
            </a:extLst>
          </p:cNvPr>
          <p:cNvSpPr txBox="1"/>
          <p:nvPr/>
        </p:nvSpPr>
        <p:spPr>
          <a:xfrm>
            <a:off x="3206045" y="1016911"/>
            <a:ext cx="6096000" cy="276999"/>
          </a:xfrm>
          <a:prstGeom prst="rect">
            <a:avLst/>
          </a:prstGeom>
          <a:noFill/>
        </p:spPr>
        <p:txBody>
          <a:bodyPr wrap="square">
            <a:spAutoFit/>
          </a:bodyPr>
          <a:lstStyle/>
          <a:p>
            <a:pPr algn="ctr" fontAlgn="base">
              <a:spcBef>
                <a:spcPct val="0"/>
              </a:spcBef>
              <a:spcAft>
                <a:spcPct val="0"/>
              </a:spcAft>
              <a:defRPr/>
            </a:pPr>
            <a:r>
              <a:rPr lang="en-US" sz="1200" dirty="0">
                <a:latin typeface="Times New Roman" panose="02020603050405020304" pitchFamily="18" charset="0"/>
                <a:cs typeface="Times New Roman" panose="02020603050405020304" pitchFamily="18" charset="0"/>
              </a:rPr>
              <a:t>Department of Artificial Intelligence And Data Science Engineering</a:t>
            </a:r>
            <a:endParaRPr lang="en-US" sz="1200" dirty="0">
              <a:solidFill>
                <a:srgbClr val="000000">
                  <a:lumMod val="75000"/>
                  <a:lumOff val="25000"/>
                </a:srgb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27504" y="2504244"/>
            <a:ext cx="7936992" cy="924756"/>
          </a:xfrm>
        </p:spPr>
        <p:txBody>
          <a:bodyPr>
            <a:noAutofit/>
          </a:bodyPr>
          <a:lstStyle/>
          <a:p>
            <a:pPr algn="ctr"/>
            <a:r>
              <a:rPr lang="en-US" sz="3200" b="1" dirty="0">
                <a:latin typeface="Times New Roman" panose="02020603050405020304" pitchFamily="18" charset="0"/>
                <a:cs typeface="Times New Roman" panose="02020603050405020304" pitchFamily="18" charset="0"/>
              </a:rPr>
              <a:t>Thank You for Your Attention</a:t>
            </a:r>
            <a:br>
              <a:rPr lang="en-US" sz="3200" b="1"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We appreciate your time and engagement.</a:t>
            </a:r>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895*366"/>
  <p:tag name="TABLE_ENDDRAG_RECT" val="33*91*895*366"/>
</p:tagLst>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231</TotalTime>
  <Words>1225</Words>
  <Application>Microsoft Office PowerPoint</Application>
  <PresentationFormat>Widescreen</PresentationFormat>
  <Paragraphs>148</Paragraphs>
  <Slides>13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Times New Roman</vt:lpstr>
      <vt:lpstr>Wingdings</vt:lpstr>
      <vt:lpstr>Default Design</vt:lpstr>
      <vt:lpstr>PowerPoint Presentation</vt:lpstr>
      <vt:lpstr>CONTENT</vt:lpstr>
      <vt:lpstr>ABSTRACT</vt:lpstr>
      <vt:lpstr>INTRODUCTION</vt:lpstr>
      <vt:lpstr>LITERATURE SURVEY</vt:lpstr>
      <vt:lpstr>EXISTING SYSTEM</vt:lpstr>
      <vt:lpstr>PowerPoint Presentation</vt:lpstr>
      <vt:lpstr>PROPOSED SYSTEM</vt:lpstr>
      <vt:lpstr>SYSTEM ARCHITECTURE</vt:lpstr>
      <vt:lpstr>SYSTEM FLOW CHART</vt:lpstr>
      <vt:lpstr>IMPLEMENTATION</vt:lpstr>
      <vt:lpstr>REFERNCE</vt:lpstr>
      <vt:lpstr>Thank You for Your Attention We appreciate your time and engagement.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CONTENT</dc:title>
  <dc:creator>RGITCL</dc:creator>
  <cp:lastModifiedBy>Harshika Koli</cp:lastModifiedBy>
  <cp:revision>168</cp:revision>
  <dcterms:created xsi:type="dcterms:W3CDTF">2024-09-05T09:21:00Z</dcterms:created>
  <dcterms:modified xsi:type="dcterms:W3CDTF">2025-04-21T08:30:00Z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5CDA80D44CE94CA4B3589E2D4B920582_13</vt:lpwstr>
  </property>
  <property fmtid="{D5CDD505-2E9C-101B-9397-08002B2CF9AE}" pid="3" name="KSOProductBuildVer">
    <vt:lpwstr>1033-12.2.0.19805</vt:lpwstr>
  </property>
</Properties>
</file>